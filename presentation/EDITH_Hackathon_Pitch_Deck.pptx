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029200"/>
          </a:xfrm>
          <a:prstGeom prst="rect">
            <a:avLst/>
          </a:prstGeom>
          <a:noFill/>
        </p:spPr>
        <p:txBody>
          <a:bodyPr wrap="square">
            <a:spAutoFit/>
          </a:bodyPr>
          <a:lstStyle/>
          <a:p>
            <a:pPr algn="ctr">
              <a:defRPr sz="1100" b="1">
                <a:solidFill>
                  <a:srgbClr val="2BDCE0"/>
                </a:solidFill>
              </a:defRPr>
            </a:pPr>
            <a:r>
              <a:t>● HEALTHCARE DISASTER COORDINATION PLATFORM · FLOOD &amp; CYCLONE EMERGENCY RESPONSE</a:t>
            </a:r>
          </a:p>
          <a:p>
            <a:pPr algn="ctr">
              <a:spcBef>
                <a:spcPts val="1600"/>
              </a:spcBef>
              <a:defRPr sz="6400" b="1">
                <a:solidFill>
                  <a:srgbClr val="F4F8FF"/>
                </a:solidFill>
              </a:defRPr>
            </a:pPr>
            <a:r>
              <a:t>EDITH</a:t>
            </a:r>
          </a:p>
          <a:p>
            <a:pPr algn="ctr">
              <a:spcBef>
                <a:spcPts val="400"/>
              </a:spcBef>
              <a:defRPr sz="2200" b="1">
                <a:solidFill>
                  <a:srgbClr val="4C91FF"/>
                </a:solidFill>
              </a:defRPr>
            </a:pPr>
            <a:r>
              <a:t>Emergency Dispatch &amp; Intelligence Tracking Hub</a:t>
            </a:r>
          </a:p>
          <a:p>
            <a:pPr algn="ctr">
              <a:spcBef>
                <a:spcPts val="1200"/>
              </a:spcBef>
              <a:defRPr sz="1500" i="1">
                <a:solidFill>
                  <a:srgbClr val="2BDCE0"/>
                </a:solidFill>
              </a:defRPr>
            </a:pPr>
            <a:r>
              <a:t>"From fragmented emergency updates to accountable healthcare coordination."</a:t>
            </a:r>
          </a:p>
        </p:txBody>
      </p:sp>
      <p:sp>
        <p:nvSpPr>
          <p:cNvPr id="4" name="Rounded Rectangle 3"/>
          <p:cNvSpPr/>
          <p:nvPr/>
        </p:nvSpPr>
        <p:spPr>
          <a:xfrm>
            <a:off x="914400" y="3931920"/>
            <a:ext cx="2468880" cy="137160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4069080"/>
            <a:ext cx="2194560" cy="1097280"/>
          </a:xfrm>
          <a:prstGeom prst="rect">
            <a:avLst/>
          </a:prstGeom>
          <a:noFill/>
        </p:spPr>
        <p:txBody>
          <a:bodyPr wrap="square">
            <a:spAutoFit/>
          </a:bodyPr>
          <a:lstStyle/>
          <a:p>
            <a:pPr>
              <a:defRPr b="1" sz="1200">
                <a:solidFill>
                  <a:srgbClr val="2BDCE0"/>
                </a:solidFill>
              </a:defRPr>
            </a:pPr>
            <a:r>
              <a:t>Offline-First Outbox</a:t>
            </a:r>
          </a:p>
          <a:p>
            <a:pPr>
              <a:spcBef>
                <a:spcPts val="400"/>
              </a:spcBef>
              <a:defRPr sz="950">
                <a:solidFill>
                  <a:srgbClr val="A3B4CC"/>
                </a:solidFill>
              </a:defRPr>
            </a:pPr>
            <a:r>
              <a:t>Service Worker + IndexedDB queue preserves field requests during blackouts.</a:t>
            </a:r>
          </a:p>
        </p:txBody>
      </p:sp>
      <p:sp>
        <p:nvSpPr>
          <p:cNvPr id="6" name="Rounded Rectangle 5"/>
          <p:cNvSpPr/>
          <p:nvPr/>
        </p:nvSpPr>
        <p:spPr>
          <a:xfrm>
            <a:off x="3566160" y="3931920"/>
            <a:ext cx="2468880" cy="137160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4069080"/>
            <a:ext cx="2194560" cy="1097280"/>
          </a:xfrm>
          <a:prstGeom prst="rect">
            <a:avLst/>
          </a:prstGeom>
          <a:noFill/>
        </p:spPr>
        <p:txBody>
          <a:bodyPr wrap="square">
            <a:spAutoFit/>
          </a:bodyPr>
          <a:lstStyle/>
          <a:p>
            <a:pPr>
              <a:defRPr b="1" sz="1200">
                <a:solidFill>
                  <a:srgbClr val="4C91FF"/>
                </a:solidFill>
              </a:defRPr>
            </a:pPr>
            <a:r>
              <a:t>Request-Centric Model</a:t>
            </a:r>
          </a:p>
          <a:p>
            <a:pPr>
              <a:spcBef>
                <a:spcPts val="400"/>
              </a:spcBef>
              <a:defRPr sz="950">
                <a:solidFill>
                  <a:srgbClr val="A3B4CC"/>
                </a:solidFill>
              </a:defRPr>
            </a:pPr>
            <a:r>
              <a:t>Facilities volunteer surplus on demand; zero mandatory inventory exposure.</a:t>
            </a:r>
          </a:p>
        </p:txBody>
      </p:sp>
      <p:sp>
        <p:nvSpPr>
          <p:cNvPr id="8" name="Rounded Rectangle 7"/>
          <p:cNvSpPr/>
          <p:nvPr/>
        </p:nvSpPr>
        <p:spPr>
          <a:xfrm>
            <a:off x="6217920" y="3931920"/>
            <a:ext cx="2468880" cy="137160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4069080"/>
            <a:ext cx="2194560" cy="1097280"/>
          </a:xfrm>
          <a:prstGeom prst="rect">
            <a:avLst/>
          </a:prstGeom>
          <a:noFill/>
        </p:spPr>
        <p:txBody>
          <a:bodyPr wrap="square">
            <a:spAutoFit/>
          </a:bodyPr>
          <a:lstStyle/>
          <a:p>
            <a:pPr>
              <a:defRPr b="1" sz="1200">
                <a:solidFill>
                  <a:srgbClr val="52DCA4"/>
                </a:solidFill>
              </a:defRPr>
            </a:pPr>
            <a:r>
              <a:t>Atomic Allocation</a:t>
            </a:r>
          </a:p>
          <a:p>
            <a:pPr>
              <a:spcBef>
                <a:spcPts val="400"/>
              </a:spcBef>
              <a:defRPr sz="950">
                <a:solidFill>
                  <a:srgbClr val="A3B4CC"/>
                </a:solidFill>
              </a:defRPr>
            </a:pPr>
            <a:r>
              <a:t>PostgreSQL ACID transactions eliminate over-allocation in race conditions.</a:t>
            </a:r>
          </a:p>
        </p:txBody>
      </p:sp>
      <p:sp>
        <p:nvSpPr>
          <p:cNvPr id="10" name="Rounded Rectangle 9"/>
          <p:cNvSpPr/>
          <p:nvPr/>
        </p:nvSpPr>
        <p:spPr>
          <a:xfrm>
            <a:off x="8869680" y="3931920"/>
            <a:ext cx="2468880" cy="137160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06840" y="4069080"/>
            <a:ext cx="2194560" cy="1097280"/>
          </a:xfrm>
          <a:prstGeom prst="rect">
            <a:avLst/>
          </a:prstGeom>
          <a:noFill/>
        </p:spPr>
        <p:txBody>
          <a:bodyPr wrap="square">
            <a:spAutoFit/>
          </a:bodyPr>
          <a:lstStyle/>
          <a:p>
            <a:pPr>
              <a:defRPr b="1" sz="1200">
                <a:solidFill>
                  <a:srgbClr val="FFA44C"/>
                </a:solidFill>
              </a:defRPr>
            </a:pPr>
            <a:r>
              <a:t>Two-Phase Verification</a:t>
            </a:r>
          </a:p>
          <a:p>
            <a:pPr>
              <a:spcBef>
                <a:spcPts val="400"/>
              </a:spcBef>
              <a:defRPr sz="950">
                <a:solidFill>
                  <a:srgbClr val="A3B4CC"/>
                </a:solidFill>
              </a:defRPr>
            </a:pPr>
            <a:r>
              <a:t>Driver drop-off does not equal delivery; recipient doctor confirms receipt.</a:t>
            </a:r>
          </a:p>
        </p:txBody>
      </p:sp>
      <p:sp>
        <p:nvSpPr>
          <p:cNvPr id="12" name="TextBox 11"/>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TEAM JARVIS: Purusouthanan B (Lead) · Sakthivel R · Sanjo Thomas · Sheik Arsh 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A · TEAM INTRODUCTION</a:t>
            </a:r>
          </a:p>
          <a:p>
            <a:pPr>
              <a:spcBef>
                <a:spcPts val="300"/>
              </a:spcBef>
              <a:defRPr sz="2000" b="1">
                <a:solidFill>
                  <a:srgbClr val="F4F8FF"/>
                </a:solidFill>
                <a:latin typeface="Arial"/>
              </a:defRPr>
            </a:pPr>
            <a:r>
              <a:t>Meet Team JARVIS · Rathinam Technical Campus</a:t>
            </a:r>
          </a:p>
          <a:p>
            <a:pPr>
              <a:spcBef>
                <a:spcPts val="200"/>
              </a:spcBef>
              <a:defRPr sz="1100">
                <a:solidFill>
                  <a:srgbClr val="A3B4CC"/>
                </a:solidFill>
                <a:latin typeface="Arial"/>
              </a:defRPr>
            </a:pPr>
            <a:r>
              <a:t>Multidisciplinary student engineering team dedicated to solving disaster-zone coordination breakdown.</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02 / 16</a:t>
            </a:r>
          </a:p>
        </p:txBody>
      </p:sp>
      <p:sp>
        <p:nvSpPr>
          <p:cNvPr id="5" name="Rounded Rectangle 4"/>
          <p:cNvSpPr/>
          <p:nvPr/>
        </p:nvSpPr>
        <p:spPr>
          <a:xfrm>
            <a:off x="731520" y="1645920"/>
            <a:ext cx="2514600" cy="310896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810512"/>
            <a:ext cx="2185416" cy="2779776"/>
          </a:xfrm>
          <a:prstGeom prst="rect">
            <a:avLst/>
          </a:prstGeom>
          <a:noFill/>
        </p:spPr>
        <p:txBody>
          <a:bodyPr wrap="square">
            <a:spAutoFit/>
          </a:bodyPr>
          <a:lstStyle/>
          <a:p>
            <a:pPr>
              <a:defRPr b="1" sz="1500">
                <a:solidFill>
                  <a:srgbClr val="F4F8FF"/>
                </a:solidFill>
              </a:defRPr>
            </a:pPr>
            <a:r>
              <a:t>Purusouthanan B</a:t>
            </a:r>
          </a:p>
          <a:p>
            <a:pPr>
              <a:spcBef>
                <a:spcPts val="300"/>
              </a:spcBef>
              <a:defRPr b="1" sz="1050">
                <a:solidFill>
                  <a:srgbClr val="2BDCE0"/>
                </a:solidFill>
              </a:defRPr>
            </a:pPr>
            <a:r>
              <a:t>Team Lead · Systems Architect</a:t>
            </a:r>
          </a:p>
          <a:p>
            <a:pPr>
              <a:spcBef>
                <a:spcPts val="800"/>
              </a:spcBef>
              <a:defRPr sz="1000">
                <a:solidFill>
                  <a:srgbClr val="A3B4CC"/>
                </a:solidFill>
              </a:defRPr>
            </a:pPr>
            <a:r>
              <a:t>Leads end-to-end architectural design, disaster workflow state machines, role-based boundary modeling, and technical planning.</a:t>
            </a:r>
          </a:p>
        </p:txBody>
      </p:sp>
      <p:sp>
        <p:nvSpPr>
          <p:cNvPr id="7" name="Rounded Rectangle 6"/>
          <p:cNvSpPr/>
          <p:nvPr/>
        </p:nvSpPr>
        <p:spPr>
          <a:xfrm>
            <a:off x="3474720" y="1645920"/>
            <a:ext cx="2514600" cy="310896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10512"/>
            <a:ext cx="2185416" cy="2779776"/>
          </a:xfrm>
          <a:prstGeom prst="rect">
            <a:avLst/>
          </a:prstGeom>
          <a:noFill/>
        </p:spPr>
        <p:txBody>
          <a:bodyPr wrap="square">
            <a:spAutoFit/>
          </a:bodyPr>
          <a:lstStyle/>
          <a:p>
            <a:pPr>
              <a:defRPr b="1" sz="1500">
                <a:solidFill>
                  <a:srgbClr val="F4F8FF"/>
                </a:solidFill>
              </a:defRPr>
            </a:pPr>
            <a:r>
              <a:t>Sakthivel R</a:t>
            </a:r>
          </a:p>
          <a:p>
            <a:pPr>
              <a:spcBef>
                <a:spcPts val="300"/>
              </a:spcBef>
              <a:defRPr b="1" sz="1050">
                <a:solidFill>
                  <a:srgbClr val="4C91FF"/>
                </a:solidFill>
              </a:defRPr>
            </a:pPr>
            <a:r>
              <a:t>Backend &amp; API Engineer</a:t>
            </a:r>
          </a:p>
          <a:p>
            <a:pPr>
              <a:spcBef>
                <a:spcPts val="800"/>
              </a:spcBef>
              <a:defRPr sz="1000">
                <a:solidFill>
                  <a:srgbClr val="A3B4CC"/>
                </a:solidFill>
              </a:defRPr>
            </a:pPr>
            <a:r>
              <a:t>Engineers FastAPI modular monolith services, Pydantic schema validation contracts, RESTful endpoint lifecycle, and error handlers.</a:t>
            </a:r>
          </a:p>
        </p:txBody>
      </p:sp>
      <p:sp>
        <p:nvSpPr>
          <p:cNvPr id="9" name="Rounded Rectangle 8"/>
          <p:cNvSpPr/>
          <p:nvPr/>
        </p:nvSpPr>
        <p:spPr>
          <a:xfrm>
            <a:off x="6217920" y="1645920"/>
            <a:ext cx="2514600" cy="310896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810512"/>
            <a:ext cx="2185416" cy="2779776"/>
          </a:xfrm>
          <a:prstGeom prst="rect">
            <a:avLst/>
          </a:prstGeom>
          <a:noFill/>
        </p:spPr>
        <p:txBody>
          <a:bodyPr wrap="square">
            <a:spAutoFit/>
          </a:bodyPr>
          <a:lstStyle/>
          <a:p>
            <a:pPr>
              <a:defRPr b="1" sz="1500">
                <a:solidFill>
                  <a:srgbClr val="F4F8FF"/>
                </a:solidFill>
              </a:defRPr>
            </a:pPr>
            <a:r>
              <a:t>Sanjo Thomas</a:t>
            </a:r>
          </a:p>
          <a:p>
            <a:pPr>
              <a:spcBef>
                <a:spcPts val="300"/>
              </a:spcBef>
              <a:defRPr b="1" sz="1050">
                <a:solidFill>
                  <a:srgbClr val="52DCA4"/>
                </a:solidFill>
              </a:defRPr>
            </a:pPr>
            <a:r>
              <a:t>Frontend &amp; Offline Systems</a:t>
            </a:r>
          </a:p>
          <a:p>
            <a:pPr>
              <a:spcBef>
                <a:spcPts val="800"/>
              </a:spcBef>
              <a:defRPr sz="1000">
                <a:solidFill>
                  <a:srgbClr val="A3B4CC"/>
                </a:solidFill>
              </a:defRPr>
            </a:pPr>
            <a:r>
              <a:t>Builds lightweight PWA interfaces, Service Worker cache strategies, IndexedDB transaction queues, and offline synchronization managers.</a:t>
            </a:r>
          </a:p>
        </p:txBody>
      </p:sp>
      <p:sp>
        <p:nvSpPr>
          <p:cNvPr id="11" name="Rounded Rectangle 10"/>
          <p:cNvSpPr/>
          <p:nvPr/>
        </p:nvSpPr>
        <p:spPr>
          <a:xfrm>
            <a:off x="8961120" y="1645920"/>
            <a:ext cx="2514600" cy="310896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5712" y="1810512"/>
            <a:ext cx="2185416" cy="2779776"/>
          </a:xfrm>
          <a:prstGeom prst="rect">
            <a:avLst/>
          </a:prstGeom>
          <a:noFill/>
        </p:spPr>
        <p:txBody>
          <a:bodyPr wrap="square">
            <a:spAutoFit/>
          </a:bodyPr>
          <a:lstStyle/>
          <a:p>
            <a:pPr>
              <a:defRPr b="1" sz="1500">
                <a:solidFill>
                  <a:srgbClr val="F4F8FF"/>
                </a:solidFill>
              </a:defRPr>
            </a:pPr>
            <a:r>
              <a:t>Sheik Arsh S</a:t>
            </a:r>
          </a:p>
          <a:p>
            <a:pPr>
              <a:spcBef>
                <a:spcPts val="300"/>
              </a:spcBef>
              <a:defRPr b="1" sz="1050">
                <a:solidFill>
                  <a:srgbClr val="FFA44C"/>
                </a:solidFill>
              </a:defRPr>
            </a:pPr>
            <a:r>
              <a:t>Data Integrity &amp; QA Specialist</a:t>
            </a:r>
          </a:p>
          <a:p>
            <a:pPr>
              <a:spcBef>
                <a:spcPts val="800"/>
              </a:spcBef>
              <a:defRPr sz="1000">
                <a:solidFill>
                  <a:srgbClr val="A3B4CC"/>
                </a:solidFill>
              </a:defRPr>
            </a:pPr>
            <a:r>
              <a:t>Oversees PostgreSQL relational constraints, row-level concurrency locks, idempotency verification, and chaos testing scenarios.</a:t>
            </a:r>
          </a:p>
        </p:txBody>
      </p:sp>
      <p:sp>
        <p:nvSpPr>
          <p:cNvPr id="13" name="Rounded Rectangle 12"/>
          <p:cNvSpPr/>
          <p:nvPr/>
        </p:nvSpPr>
        <p:spPr>
          <a:xfrm>
            <a:off x="731520" y="4937760"/>
            <a:ext cx="10728655" cy="118872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83480"/>
            <a:ext cx="10362895" cy="1097280"/>
          </a:xfrm>
          <a:prstGeom prst="rect">
            <a:avLst/>
          </a:prstGeom>
          <a:noFill/>
        </p:spPr>
        <p:txBody>
          <a:bodyPr wrap="square">
            <a:spAutoFit/>
          </a:bodyPr>
          <a:lstStyle/>
          <a:p>
            <a:pPr>
              <a:defRPr b="1" sz="1000">
                <a:solidFill>
                  <a:srgbClr val="2BDCE0"/>
                </a:solidFill>
              </a:defRPr>
            </a:pPr>
            <a:r>
              <a:t>TEAM JARVIS FOUNDATION PILLARS</a:t>
            </a:r>
          </a:p>
          <a:p>
            <a:pPr>
              <a:spcBef>
                <a:spcPts val="400"/>
              </a:spcBef>
              <a:defRPr sz="950">
                <a:solidFill>
                  <a:srgbClr val="F4F8FF"/>
                </a:solidFill>
              </a:defRPr>
            </a:pPr>
            <a:r>
              <a:t>1. Ground-Truth Analysis: Studied failure modes in Tamil Nadu cyclone/flood relief.  2. Deliberate Simplicity: Avoided fragile microservices in favor of a clean modular monolith.  3. Zero False Guarantees: Never misrepresent un-synced offline drafts as confirmed server records.  4. Non-Repudiation: Every state shift has an immutable human actor record.</a:t>
            </a:r>
          </a:p>
        </p:txBody>
      </p:sp>
      <p:sp>
        <p:nvSpPr>
          <p:cNvPr id="15" name="TextBox 14"/>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A: TEAM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A · OPERATIONAL CONTEXT</a:t>
            </a:r>
          </a:p>
          <a:p>
            <a:pPr>
              <a:spcBef>
                <a:spcPts val="300"/>
              </a:spcBef>
              <a:defRPr sz="2000" b="1">
                <a:solidFill>
                  <a:srgbClr val="F4F8FF"/>
                </a:solidFill>
                <a:latin typeface="Arial"/>
              </a:defRPr>
            </a:pPr>
            <a:r>
              <a:t>Why This Problem Matters: Healthcare in Catastrophic Disasters</a:t>
            </a:r>
          </a:p>
          <a:p>
            <a:pPr>
              <a:spcBef>
                <a:spcPts val="200"/>
              </a:spcBef>
              <a:defRPr sz="1100">
                <a:solidFill>
                  <a:srgbClr val="A3B4CC"/>
                </a:solidFill>
                <a:latin typeface="Arial"/>
              </a:defRPr>
            </a:pPr>
            <a:r>
              <a:t>In severe floods and cyclones, the bottleneck is rarely total supply absence, but a failure of coordination.</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03 / 16</a:t>
            </a:r>
          </a:p>
        </p:txBody>
      </p:sp>
      <p:sp>
        <p:nvSpPr>
          <p:cNvPr id="5" name="Rounded Rectangle 4"/>
          <p:cNvSpPr/>
          <p:nvPr/>
        </p:nvSpPr>
        <p:spPr>
          <a:xfrm>
            <a:off x="731520" y="1645920"/>
            <a:ext cx="3383280" cy="3017520"/>
          </a:xfrm>
          <a:prstGeom prst="roundRect">
            <a:avLst/>
          </a:prstGeom>
          <a:solidFill>
            <a:srgbClr val="111D33"/>
          </a:solidFill>
          <a:ln w="12700">
            <a:solidFill>
              <a:srgbClr val="FF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2651760"/>
          </a:xfrm>
          <a:prstGeom prst="rect">
            <a:avLst/>
          </a:prstGeom>
          <a:noFill/>
        </p:spPr>
        <p:txBody>
          <a:bodyPr wrap="square">
            <a:spAutoFit/>
          </a:bodyPr>
          <a:lstStyle/>
          <a:p>
            <a:pPr>
              <a:defRPr b="1" sz="1400">
                <a:solidFill>
                  <a:srgbClr val="F4F8FF"/>
                </a:solidFill>
              </a:defRPr>
            </a:pPr>
            <a:r>
              <a:t>1. Demand Surges &amp; Depletion</a:t>
            </a:r>
          </a:p>
          <a:p>
            <a:pPr>
              <a:spcBef>
                <a:spcPts val="800"/>
              </a:spcBef>
              <a:defRPr sz="1100">
                <a:solidFill>
                  <a:srgbClr val="A3B4CC"/>
                </a:solidFill>
              </a:defRPr>
            </a:pPr>
            <a:r>
              <a:t>Floods and cyclones cause sudden spikes in trauma, waterborne illness, and power cuts. Oxygen cylinders, O- blood, tetanus toxoids, and generator diesel exhaust within hours at isolated medical camps.</a:t>
            </a:r>
          </a:p>
        </p:txBody>
      </p:sp>
      <p:sp>
        <p:nvSpPr>
          <p:cNvPr id="7" name="Rounded Rectangle 6"/>
          <p:cNvSpPr/>
          <p:nvPr/>
        </p:nvSpPr>
        <p:spPr>
          <a:xfrm>
            <a:off x="4389120" y="1645920"/>
            <a:ext cx="3383280" cy="301752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2651760"/>
          </a:xfrm>
          <a:prstGeom prst="rect">
            <a:avLst/>
          </a:prstGeom>
          <a:noFill/>
        </p:spPr>
        <p:txBody>
          <a:bodyPr wrap="square">
            <a:spAutoFit/>
          </a:bodyPr>
          <a:lstStyle/>
          <a:p>
            <a:pPr>
              <a:defRPr b="1" sz="1400">
                <a:solidFill>
                  <a:srgbClr val="F4F8FF"/>
                </a:solidFill>
              </a:defRPr>
            </a:pPr>
            <a:r>
              <a:t>2. Fragmented Channel Chaos</a:t>
            </a:r>
          </a:p>
          <a:p>
            <a:pPr>
              <a:spcBef>
                <a:spcPts val="800"/>
              </a:spcBef>
              <a:defRPr sz="1100">
                <a:solidFill>
                  <a:srgbClr val="A3B4CC"/>
                </a:solidFill>
              </a:defRPr>
            </a:pPr>
            <a:r>
              <a:t>Requests broadcast across disconnected WhatsApp groups, phone calls, and paper memos. A high-profile camp gets 4 duplicate donations while an isolated camp 5 km away starves.</a:t>
            </a:r>
          </a:p>
        </p:txBody>
      </p:sp>
      <p:sp>
        <p:nvSpPr>
          <p:cNvPr id="9" name="Rounded Rectangle 8"/>
          <p:cNvSpPr/>
          <p:nvPr/>
        </p:nvSpPr>
        <p:spPr>
          <a:xfrm>
            <a:off x="8046720" y="1645920"/>
            <a:ext cx="3383280" cy="301752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2651760"/>
          </a:xfrm>
          <a:prstGeom prst="rect">
            <a:avLst/>
          </a:prstGeom>
          <a:noFill/>
        </p:spPr>
        <p:txBody>
          <a:bodyPr wrap="square">
            <a:spAutoFit/>
          </a:bodyPr>
          <a:lstStyle/>
          <a:p>
            <a:pPr>
              <a:defRPr b="1" sz="1400">
                <a:solidFill>
                  <a:srgbClr val="F4F8FF"/>
                </a:solidFill>
              </a:defRPr>
            </a:pPr>
            <a:r>
              <a:t>3. Critical Infrastructure Blackout</a:t>
            </a:r>
          </a:p>
          <a:p>
            <a:pPr>
              <a:spcBef>
                <a:spcPts val="800"/>
              </a:spcBef>
              <a:defRPr sz="1100">
                <a:solidFill>
                  <a:srgbClr val="A3B4CC"/>
                </a:solidFill>
              </a:defRPr>
            </a:pPr>
            <a:r>
              <a:t>Downed cell towers, flooded electrical substations, and cut fiber backhauls disconnect cloud services for days. Standard cloud apps and EHRs freeze instantly upon signal loss.</a:t>
            </a:r>
          </a:p>
        </p:txBody>
      </p:sp>
      <p:sp>
        <p:nvSpPr>
          <p:cNvPr id="11" name="Rounded Rectangle 10"/>
          <p:cNvSpPr/>
          <p:nvPr/>
        </p:nvSpPr>
        <p:spPr>
          <a:xfrm>
            <a:off x="731520" y="4892040"/>
            <a:ext cx="10728655" cy="12344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37760"/>
            <a:ext cx="10362895" cy="1097280"/>
          </a:xfrm>
          <a:prstGeom prst="rect">
            <a:avLst/>
          </a:prstGeom>
          <a:noFill/>
        </p:spPr>
        <p:txBody>
          <a:bodyPr wrap="square">
            <a:spAutoFit/>
          </a:bodyPr>
          <a:lstStyle/>
          <a:p>
            <a:pPr>
              <a:defRPr b="1" sz="1000">
                <a:solidFill>
                  <a:srgbClr val="2BDCE0"/>
                </a:solidFill>
              </a:defRPr>
            </a:pPr>
            <a:r>
              <a:t>ANATOMY OF DISASTER COORDINATION COLLAPSE</a:t>
            </a:r>
          </a:p>
          <a:p>
            <a:pPr>
              <a:spcBef>
                <a:spcPts val="400"/>
              </a:spcBef>
              <a:defRPr sz="1000">
                <a:solidFill>
                  <a:srgbClr val="F4F8FF"/>
                </a:solidFill>
              </a:defRPr>
            </a:pPr>
            <a:r>
              <a:t>Surge Demand Spike  ──&gt;  Multi-Channel WhatsApp Shouting  ──&gt;  Unacknowledged Requests  ──&gt;  Blind Unverified Dispatches  ──&gt;  Zero Proof of Delivery</a:t>
            </a:r>
            <a:br/>
            <a:r>
              <a:t>Core Takeaway: Software designed exclusively for always-on 5G links fails immediately when power and telecom towers fail.</a:t>
            </a:r>
          </a:p>
        </p:txBody>
      </p:sp>
      <p:sp>
        <p:nvSpPr>
          <p:cNvPr id="13" name="TextBox 12"/>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A: OPERATIONAL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B · PROBLEM STATEMENT</a:t>
            </a:r>
          </a:p>
          <a:p>
            <a:pPr>
              <a:spcBef>
                <a:spcPts val="300"/>
              </a:spcBef>
              <a:defRPr sz="2000" b="1">
                <a:solidFill>
                  <a:srgbClr val="F4F8FF"/>
                </a:solidFill>
                <a:latin typeface="Arial"/>
              </a:defRPr>
            </a:pPr>
            <a:r>
              <a:t>The Problem Statement: Coordination Without Accountability</a:t>
            </a:r>
          </a:p>
          <a:p>
            <a:pPr>
              <a:spcBef>
                <a:spcPts val="200"/>
              </a:spcBef>
              <a:defRPr sz="1100">
                <a:solidFill>
                  <a:srgbClr val="A3B4CC"/>
                </a:solidFill>
                <a:latin typeface="Arial"/>
              </a:defRPr>
            </a:pPr>
            <a:r>
              <a:t>Formalizing the critical gap in emergency healthcare response during severe weather disasters.</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04 / 16</a:t>
            </a:r>
          </a:p>
        </p:txBody>
      </p:sp>
      <p:sp>
        <p:nvSpPr>
          <p:cNvPr id="5" name="Rounded Rectangle 4"/>
          <p:cNvSpPr/>
          <p:nvPr/>
        </p:nvSpPr>
        <p:spPr>
          <a:xfrm>
            <a:off x="731520" y="1645920"/>
            <a:ext cx="10728655" cy="14630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83080"/>
            <a:ext cx="10180015" cy="1188720"/>
          </a:xfrm>
          <a:prstGeom prst="rect">
            <a:avLst/>
          </a:prstGeom>
          <a:noFill/>
        </p:spPr>
        <p:txBody>
          <a:bodyPr wrap="square">
            <a:spAutoFit/>
          </a:bodyPr>
          <a:lstStyle/>
          <a:p>
            <a:pPr>
              <a:defRPr b="1" sz="1000">
                <a:solidFill>
                  <a:srgbClr val="2BDCE0"/>
                </a:solidFill>
              </a:defRPr>
            </a:pPr>
            <a:r>
              <a:t>FORMAL HACKATHON PROBLEM STATEMENT</a:t>
            </a:r>
          </a:p>
          <a:p>
            <a:pPr>
              <a:spcBef>
                <a:spcPts val="400"/>
              </a:spcBef>
              <a:defRPr sz="1300" b="1" i="1">
                <a:solidFill>
                  <a:srgbClr val="F4F8FF"/>
                </a:solidFill>
              </a:defRPr>
            </a:pPr>
            <a:r>
              <a:t>"During severe floods and cyclones, hospitals and medical camps struggle to coordinate emergency resource requests because communication channels are fragmented, availability data becomes stale, ownership is unclear, and network disruptions interrupt cloud-dependent workflows."</a:t>
            </a:r>
          </a:p>
        </p:txBody>
      </p:sp>
      <p:sp>
        <p:nvSpPr>
          <p:cNvPr id="7" name="Rounded Rectangle 6"/>
          <p:cNvSpPr/>
          <p:nvPr/>
        </p:nvSpPr>
        <p:spPr>
          <a:xfrm>
            <a:off x="731520" y="3337560"/>
            <a:ext cx="2011680" cy="274320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74720"/>
            <a:ext cx="1737360" cy="2468880"/>
          </a:xfrm>
          <a:prstGeom prst="rect">
            <a:avLst/>
          </a:prstGeom>
          <a:noFill/>
        </p:spPr>
        <p:txBody>
          <a:bodyPr wrap="square">
            <a:spAutoFit/>
          </a:bodyPr>
          <a:lstStyle/>
          <a:p>
            <a:pPr>
              <a:defRPr b="1" sz="1200">
                <a:solidFill>
                  <a:srgbClr val="2BDCE0"/>
                </a:solidFill>
              </a:defRPr>
            </a:pPr>
            <a:r>
              <a:t>Fragmented Comm</a:t>
            </a:r>
          </a:p>
          <a:p>
            <a:pPr>
              <a:spcBef>
                <a:spcPts val="600"/>
              </a:spcBef>
              <a:defRPr sz="950">
                <a:solidFill>
                  <a:srgbClr val="A3B4CC"/>
                </a:solidFill>
              </a:defRPr>
            </a:pPr>
            <a:r>
              <a:t>Phone calls, SMS, WhatsApp, and paper create disconnected silos with no unified record.</a:t>
            </a:r>
          </a:p>
        </p:txBody>
      </p:sp>
      <p:sp>
        <p:nvSpPr>
          <p:cNvPr id="9" name="Rounded Rectangle 8"/>
          <p:cNvSpPr/>
          <p:nvPr/>
        </p:nvSpPr>
        <p:spPr>
          <a:xfrm>
            <a:off x="2926080" y="3337560"/>
            <a:ext cx="2011680" cy="274320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3474720"/>
            <a:ext cx="1737360" cy="2468880"/>
          </a:xfrm>
          <a:prstGeom prst="rect">
            <a:avLst/>
          </a:prstGeom>
          <a:noFill/>
        </p:spPr>
        <p:txBody>
          <a:bodyPr wrap="square">
            <a:spAutoFit/>
          </a:bodyPr>
          <a:lstStyle/>
          <a:p>
            <a:pPr>
              <a:defRPr b="1" sz="1200">
                <a:solidFill>
                  <a:srgbClr val="4C91FF"/>
                </a:solidFill>
              </a:defRPr>
            </a:pPr>
            <a:r>
              <a:t>Stale Data</a:t>
            </a:r>
          </a:p>
          <a:p>
            <a:pPr>
              <a:spcBef>
                <a:spcPts val="600"/>
              </a:spcBef>
              <a:defRPr sz="950">
                <a:solidFill>
                  <a:srgbClr val="A3B4CC"/>
                </a:solidFill>
              </a:defRPr>
            </a:pPr>
            <a:r>
              <a:t>Spreadsheets and verbal promises don't reflect rapid field depletion or prior commitments.</a:t>
            </a:r>
          </a:p>
        </p:txBody>
      </p:sp>
      <p:sp>
        <p:nvSpPr>
          <p:cNvPr id="11" name="Rounded Rectangle 10"/>
          <p:cNvSpPr/>
          <p:nvPr/>
        </p:nvSpPr>
        <p:spPr>
          <a:xfrm>
            <a:off x="5120640" y="3337560"/>
            <a:ext cx="2011680" cy="274320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7800" y="3474720"/>
            <a:ext cx="1737360" cy="2468880"/>
          </a:xfrm>
          <a:prstGeom prst="rect">
            <a:avLst/>
          </a:prstGeom>
          <a:noFill/>
        </p:spPr>
        <p:txBody>
          <a:bodyPr wrap="square">
            <a:spAutoFit/>
          </a:bodyPr>
          <a:lstStyle/>
          <a:p>
            <a:pPr>
              <a:defRPr b="1" sz="1200">
                <a:solidFill>
                  <a:srgbClr val="FFA44C"/>
                </a:solidFill>
              </a:defRPr>
            </a:pPr>
            <a:r>
              <a:t>Unclear Ownership</a:t>
            </a:r>
          </a:p>
          <a:p>
            <a:pPr>
              <a:spcBef>
                <a:spcPts val="600"/>
              </a:spcBef>
              <a:defRPr sz="950">
                <a:solidFill>
                  <a:srgbClr val="A3B4CC"/>
                </a:solidFill>
              </a:defRPr>
            </a:pPr>
            <a:r>
              <a:t>Urgent needs entered into group chats sit unacknowledged without an assigned coordinator.</a:t>
            </a:r>
          </a:p>
        </p:txBody>
      </p:sp>
      <p:sp>
        <p:nvSpPr>
          <p:cNvPr id="13" name="Rounded Rectangle 12"/>
          <p:cNvSpPr/>
          <p:nvPr/>
        </p:nvSpPr>
        <p:spPr>
          <a:xfrm>
            <a:off x="7315199" y="3337560"/>
            <a:ext cx="2011680" cy="2743200"/>
          </a:xfrm>
          <a:prstGeom prst="roundRect">
            <a:avLst/>
          </a:prstGeom>
          <a:solidFill>
            <a:srgbClr val="111D33"/>
          </a:solidFill>
          <a:ln w="12700">
            <a:solidFill>
              <a:srgbClr val="FF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59" y="3474720"/>
            <a:ext cx="1737360" cy="2468880"/>
          </a:xfrm>
          <a:prstGeom prst="rect">
            <a:avLst/>
          </a:prstGeom>
          <a:noFill/>
        </p:spPr>
        <p:txBody>
          <a:bodyPr wrap="square">
            <a:spAutoFit/>
          </a:bodyPr>
          <a:lstStyle/>
          <a:p>
            <a:pPr>
              <a:defRPr b="1" sz="1200">
                <a:solidFill>
                  <a:srgbClr val="FF6878"/>
                </a:solidFill>
              </a:defRPr>
            </a:pPr>
            <a:r>
              <a:t>Unverified Fulfilment</a:t>
            </a:r>
          </a:p>
          <a:p>
            <a:pPr>
              <a:spcBef>
                <a:spcPts val="600"/>
              </a:spcBef>
              <a:defRPr sz="950">
                <a:solidFill>
                  <a:srgbClr val="A3B4CC"/>
                </a:solidFill>
              </a:defRPr>
            </a:pPr>
            <a:r>
              <a:t>'Dispatched' is conflated with 'Delivered'. Lost, delayed, or stolen cargo goes undetected.</a:t>
            </a:r>
          </a:p>
        </p:txBody>
      </p:sp>
      <p:sp>
        <p:nvSpPr>
          <p:cNvPr id="15" name="Rounded Rectangle 14"/>
          <p:cNvSpPr/>
          <p:nvPr/>
        </p:nvSpPr>
        <p:spPr>
          <a:xfrm>
            <a:off x="9509760" y="3337560"/>
            <a:ext cx="2011680" cy="274320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46920" y="3474720"/>
            <a:ext cx="1737360" cy="2468880"/>
          </a:xfrm>
          <a:prstGeom prst="rect">
            <a:avLst/>
          </a:prstGeom>
          <a:noFill/>
        </p:spPr>
        <p:txBody>
          <a:bodyPr wrap="square">
            <a:spAutoFit/>
          </a:bodyPr>
          <a:lstStyle/>
          <a:p>
            <a:pPr>
              <a:defRPr b="1" sz="1200">
                <a:solidFill>
                  <a:srgbClr val="52DCA4"/>
                </a:solidFill>
              </a:defRPr>
            </a:pPr>
            <a:r>
              <a:t>Cloud Fragility</a:t>
            </a:r>
          </a:p>
          <a:p>
            <a:pPr>
              <a:spcBef>
                <a:spcPts val="600"/>
              </a:spcBef>
              <a:defRPr sz="950">
                <a:solidFill>
                  <a:srgbClr val="A3B4CC"/>
                </a:solidFill>
              </a:defRPr>
            </a:pPr>
            <a:r>
              <a:t>Standard web portals freeze or crash the moment local cell towers lose grid power.</a:t>
            </a:r>
          </a:p>
        </p:txBody>
      </p:sp>
      <p:sp>
        <p:nvSpPr>
          <p:cNvPr id="17" name="TextBox 16"/>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B: PROBLEM STATEMENT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B · COMPARATIVE ANALYSIS</a:t>
            </a:r>
          </a:p>
          <a:p>
            <a:pPr>
              <a:spcBef>
                <a:spcPts val="300"/>
              </a:spcBef>
              <a:defRPr sz="2000" b="1">
                <a:solidFill>
                  <a:srgbClr val="F4F8FF"/>
                </a:solidFill>
                <a:latin typeface="Arial"/>
              </a:defRPr>
            </a:pPr>
            <a:r>
              <a:t>Existing Coordination Gap vs. The EDITH Standard</a:t>
            </a:r>
          </a:p>
          <a:p>
            <a:pPr>
              <a:spcBef>
                <a:spcPts val="200"/>
              </a:spcBef>
              <a:defRPr sz="1100">
                <a:solidFill>
                  <a:srgbClr val="A3B4CC"/>
                </a:solidFill>
                <a:latin typeface="Arial"/>
              </a:defRPr>
            </a:pPr>
            <a:r>
              <a:t>Moving from informal, fragile communication to structured, resilient accountability.</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05 / 16</a:t>
            </a:r>
          </a:p>
        </p:txBody>
      </p:sp>
      <p:graphicFrame>
        <p:nvGraphicFramePr>
          <p:cNvPr id="5" name="Table 4"/>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560320"/>
                <a:gridCol w="2560320"/>
                <a:gridCol w="3596335"/>
              </a:tblGrid>
              <a:tr h="487680">
                <a:tc>
                  <a:txBody>
                    <a:bodyPr/>
                    <a:lstStyle/>
                    <a:p>
                      <a:pPr>
                        <a:defRPr b="1" sz="1000">
                          <a:solidFill>
                            <a:srgbClr val="F4F8FF"/>
                          </a:solidFill>
                        </a:defRPr>
                      </a:pPr>
                      <a:r>
                        <a:t>Dimension</a:t>
                      </a:r>
                    </a:p>
                  </a:txBody>
                  <a:tcPr>
                    <a:solidFill>
                      <a:srgbClr val="111D33"/>
                    </a:solidFill>
                  </a:tcPr>
                </a:tc>
                <a:tc>
                  <a:txBody>
                    <a:bodyPr/>
                    <a:lstStyle/>
                    <a:p>
                      <a:pPr>
                        <a:defRPr b="1" sz="1000">
                          <a:solidFill>
                            <a:srgbClr val="F4F8FF"/>
                          </a:solidFill>
                        </a:defRPr>
                      </a:pPr>
                      <a:r>
                        <a:t>Informal (Phone/WhatsApp)</a:t>
                      </a:r>
                    </a:p>
                  </a:txBody>
                  <a:tcPr>
                    <a:solidFill>
                      <a:srgbClr val="111D33"/>
                    </a:solidFill>
                  </a:tcPr>
                </a:tc>
                <a:tc>
                  <a:txBody>
                    <a:bodyPr/>
                    <a:lstStyle/>
                    <a:p>
                      <a:pPr>
                        <a:defRPr b="1" sz="1000">
                          <a:solidFill>
                            <a:srgbClr val="F4F8FF"/>
                          </a:solidFill>
                        </a:defRPr>
                      </a:pPr>
                      <a:r>
                        <a:t>Generic Dashboards / Excel</a:t>
                      </a:r>
                    </a:p>
                  </a:txBody>
                  <a:tcPr>
                    <a:solidFill>
                      <a:srgbClr val="111D33"/>
                    </a:solidFill>
                  </a:tcPr>
                </a:tc>
                <a:tc>
                  <a:txBody>
                    <a:bodyPr/>
                    <a:lstStyle/>
                    <a:p>
                      <a:pPr>
                        <a:defRPr b="1" sz="1000">
                          <a:solidFill>
                            <a:srgbClr val="2BDCE0"/>
                          </a:solidFill>
                        </a:defRPr>
                      </a:pPr>
                      <a:r>
                        <a:t>EDITH Platform Standard</a:t>
                      </a:r>
                    </a:p>
                  </a:txBody>
                  <a:tcPr>
                    <a:solidFill>
                      <a:srgbClr val="111D33"/>
                    </a:solidFill>
                  </a:tcPr>
                </a:tc>
              </a:tr>
              <a:tr h="487680">
                <a:tc>
                  <a:txBody>
                    <a:bodyPr/>
                    <a:lstStyle/>
                    <a:p>
                      <a:pPr>
                        <a:defRPr sz="950" b="1">
                          <a:solidFill>
                            <a:srgbClr val="F4F8FF"/>
                          </a:solidFill>
                        </a:defRPr>
                      </a:pPr>
                      <a:r>
                        <a:t>Request Visibility</a:t>
                      </a:r>
                    </a:p>
                  </a:txBody>
                  <a:tcPr>
                    <a:solidFill>
                      <a:srgbClr val="0E182B"/>
                    </a:solidFill>
                  </a:tcPr>
                </a:tc>
                <a:tc>
                  <a:txBody>
                    <a:bodyPr/>
                    <a:lstStyle/>
                    <a:p>
                      <a:pPr>
                        <a:defRPr sz="950">
                          <a:solidFill>
                            <a:srgbClr val="A3B4CC"/>
                          </a:solidFill>
                        </a:defRPr>
                      </a:pPr>
                      <a:r>
                        <a:t>Siloed in private chats</a:t>
                      </a:r>
                    </a:p>
                  </a:txBody>
                  <a:tcPr>
                    <a:solidFill>
                      <a:srgbClr val="0E182B"/>
                    </a:solidFill>
                  </a:tcPr>
                </a:tc>
                <a:tc>
                  <a:txBody>
                    <a:bodyPr/>
                    <a:lstStyle/>
                    <a:p>
                      <a:pPr>
                        <a:defRPr sz="950">
                          <a:solidFill>
                            <a:srgbClr val="A3B4CC"/>
                          </a:solidFill>
                        </a:defRPr>
                      </a:pPr>
                      <a:r>
                        <a:t>Passive tabular broadcast</a:t>
                      </a:r>
                    </a:p>
                  </a:txBody>
                  <a:tcPr>
                    <a:solidFill>
                      <a:srgbClr val="0E182B"/>
                    </a:solidFill>
                  </a:tcPr>
                </a:tc>
                <a:tc>
                  <a:txBody>
                    <a:bodyPr/>
                    <a:lstStyle/>
                    <a:p>
                      <a:pPr>
                        <a:defRPr sz="950" b="1">
                          <a:solidFill>
                            <a:srgbClr val="52DCA4"/>
                          </a:solidFill>
                        </a:defRPr>
                      </a:pPr>
                      <a:r>
                        <a:t>Unified regional triage queue with priority tags</a:t>
                      </a:r>
                    </a:p>
                  </a:txBody>
                  <a:tcPr>
                    <a:solidFill>
                      <a:srgbClr val="0E182B"/>
                    </a:solidFill>
                  </a:tcPr>
                </a:tc>
              </a:tr>
              <a:tr h="487680">
                <a:tc>
                  <a:txBody>
                    <a:bodyPr/>
                    <a:lstStyle/>
                    <a:p>
                      <a:pPr>
                        <a:defRPr sz="950" b="1">
                          <a:solidFill>
                            <a:srgbClr val="F4F8FF"/>
                          </a:solidFill>
                        </a:defRPr>
                      </a:pPr>
                      <a:r>
                        <a:t>Ownership &amp; SLA</a:t>
                      </a:r>
                    </a:p>
                  </a:txBody>
                  <a:tcPr>
                    <a:solidFill>
                      <a:srgbClr val="111D33"/>
                    </a:solidFill>
                  </a:tcPr>
                </a:tc>
                <a:tc>
                  <a:txBody>
                    <a:bodyPr/>
                    <a:lstStyle/>
                    <a:p>
                      <a:pPr>
                        <a:defRPr sz="950">
                          <a:solidFill>
                            <a:srgbClr val="A3B4CC"/>
                          </a:solidFill>
                        </a:defRPr>
                      </a:pPr>
                      <a:r>
                        <a:t>No assigned coordinator</a:t>
                      </a:r>
                    </a:p>
                  </a:txBody>
                  <a:tcPr>
                    <a:solidFill>
                      <a:srgbClr val="111D33"/>
                    </a:solidFill>
                  </a:tcPr>
                </a:tc>
                <a:tc>
                  <a:txBody>
                    <a:bodyPr/>
                    <a:lstStyle/>
                    <a:p>
                      <a:pPr>
                        <a:defRPr sz="950">
                          <a:solidFill>
                            <a:srgbClr val="A3B4CC"/>
                          </a:solidFill>
                        </a:defRPr>
                      </a:pPr>
                      <a:r>
                        <a:t>Ambiguous ticket states</a:t>
                      </a:r>
                    </a:p>
                  </a:txBody>
                  <a:tcPr>
                    <a:solidFill>
                      <a:srgbClr val="111D33"/>
                    </a:solidFill>
                  </a:tcPr>
                </a:tc>
                <a:tc>
                  <a:txBody>
                    <a:bodyPr/>
                    <a:lstStyle/>
                    <a:p>
                      <a:pPr>
                        <a:defRPr sz="950" b="1">
                          <a:solidFill>
                            <a:srgbClr val="52DCA4"/>
                          </a:solidFill>
                        </a:defRPr>
                      </a:pPr>
                      <a:r>
                        <a:t>Mandatory ICC coordinator assignment with timers</a:t>
                      </a:r>
                    </a:p>
                  </a:txBody>
                  <a:tcPr>
                    <a:solidFill>
                      <a:srgbClr val="111D33"/>
                    </a:solidFill>
                  </a:tcPr>
                </a:tc>
              </a:tr>
              <a:tr h="487680">
                <a:tc>
                  <a:txBody>
                    <a:bodyPr/>
                    <a:lstStyle/>
                    <a:p>
                      <a:pPr>
                        <a:defRPr sz="950" b="1">
                          <a:solidFill>
                            <a:srgbClr val="F4F8FF"/>
                          </a:solidFill>
                        </a:defRPr>
                      </a:pPr>
                      <a:r>
                        <a:t>Resource Offers</a:t>
                      </a:r>
                    </a:p>
                  </a:txBody>
                  <a:tcPr>
                    <a:solidFill>
                      <a:srgbClr val="0E182B"/>
                    </a:solidFill>
                  </a:tcPr>
                </a:tc>
                <a:tc>
                  <a:txBody>
                    <a:bodyPr/>
                    <a:lstStyle/>
                    <a:p>
                      <a:pPr>
                        <a:defRPr sz="950">
                          <a:solidFill>
                            <a:srgbClr val="A3B4CC"/>
                          </a:solidFill>
                        </a:defRPr>
                      </a:pPr>
                      <a:r>
                        <a:t>Verbal chat promises</a:t>
                      </a:r>
                    </a:p>
                  </a:txBody>
                  <a:tcPr>
                    <a:solidFill>
                      <a:srgbClr val="0E182B"/>
                    </a:solidFill>
                  </a:tcPr>
                </a:tc>
                <a:tc>
                  <a:txBody>
                    <a:bodyPr/>
                    <a:lstStyle/>
                    <a:p>
                      <a:pPr>
                        <a:defRPr sz="950">
                          <a:solidFill>
                            <a:srgbClr val="A3B4CC"/>
                          </a:solidFill>
                        </a:defRPr>
                      </a:pPr>
                      <a:r>
                        <a:t>Static passive inventory</a:t>
                      </a:r>
                    </a:p>
                  </a:txBody>
                  <a:tcPr>
                    <a:solidFill>
                      <a:srgbClr val="0E182B"/>
                    </a:solidFill>
                  </a:tcPr>
                </a:tc>
                <a:tc>
                  <a:txBody>
                    <a:bodyPr/>
                    <a:lstStyle/>
                    <a:p>
                      <a:pPr>
                        <a:defRPr sz="950" b="1">
                          <a:solidFill>
                            <a:srgbClr val="52DCA4"/>
                          </a:solidFill>
                        </a:defRPr>
                      </a:pPr>
                      <a:r>
                        <a:t>Structured voluntary offers tied to active needs</a:t>
                      </a:r>
                    </a:p>
                  </a:txBody>
                  <a:tcPr>
                    <a:solidFill>
                      <a:srgbClr val="0E182B"/>
                    </a:solidFill>
                  </a:tcPr>
                </a:tc>
              </a:tr>
              <a:tr h="487680">
                <a:tc>
                  <a:txBody>
                    <a:bodyPr/>
                    <a:lstStyle/>
                    <a:p>
                      <a:pPr>
                        <a:defRPr sz="950" b="1">
                          <a:solidFill>
                            <a:srgbClr val="F4F8FF"/>
                          </a:solidFill>
                        </a:defRPr>
                      </a:pPr>
                      <a:r>
                        <a:t>Allocation Tracking</a:t>
                      </a:r>
                    </a:p>
                  </a:txBody>
                  <a:tcPr>
                    <a:solidFill>
                      <a:srgbClr val="111D33"/>
                    </a:solidFill>
                  </a:tcPr>
                </a:tc>
                <a:tc>
                  <a:txBody>
                    <a:bodyPr/>
                    <a:lstStyle/>
                    <a:p>
                      <a:pPr>
                        <a:defRPr sz="950">
                          <a:solidFill>
                            <a:srgbClr val="A3B4CC"/>
                          </a:solidFill>
                        </a:defRPr>
                      </a:pPr>
                      <a:r>
                        <a:t>High double-promising risk</a:t>
                      </a:r>
                    </a:p>
                  </a:txBody>
                  <a:tcPr>
                    <a:solidFill>
                      <a:srgbClr val="111D33"/>
                    </a:solidFill>
                  </a:tcPr>
                </a:tc>
                <a:tc>
                  <a:txBody>
                    <a:bodyPr/>
                    <a:lstStyle/>
                    <a:p>
                      <a:pPr>
                        <a:defRPr sz="950">
                          <a:solidFill>
                            <a:srgbClr val="A3B4CC"/>
                          </a:solidFill>
                        </a:defRPr>
                      </a:pPr>
                      <a:r>
                        <a:t>Manual cell edits (race risk)</a:t>
                      </a:r>
                    </a:p>
                  </a:txBody>
                  <a:tcPr>
                    <a:solidFill>
                      <a:srgbClr val="111D33"/>
                    </a:solidFill>
                  </a:tcPr>
                </a:tc>
                <a:tc>
                  <a:txBody>
                    <a:bodyPr/>
                    <a:lstStyle/>
                    <a:p>
                      <a:pPr>
                        <a:defRPr sz="950" b="1">
                          <a:solidFill>
                            <a:srgbClr val="52DCA4"/>
                          </a:solidFill>
                        </a:defRPr>
                      </a:pPr>
                      <a:r>
                        <a:t>ACID row-locks preventing over-allocation</a:t>
                      </a:r>
                    </a:p>
                  </a:txBody>
                  <a:tcPr>
                    <a:solidFill>
                      <a:srgbClr val="111D33"/>
                    </a:solidFill>
                  </a:tcPr>
                </a:tc>
              </a:tr>
              <a:tr h="487680">
                <a:tc>
                  <a:txBody>
                    <a:bodyPr/>
                    <a:lstStyle/>
                    <a:p>
                      <a:pPr>
                        <a:defRPr sz="950" b="1">
                          <a:solidFill>
                            <a:srgbClr val="F4F8FF"/>
                          </a:solidFill>
                        </a:defRPr>
                      </a:pPr>
                      <a:r>
                        <a:t>Partial Fulfilment</a:t>
                      </a:r>
                    </a:p>
                  </a:txBody>
                  <a:tcPr>
                    <a:solidFill>
                      <a:srgbClr val="0E182B"/>
                    </a:solidFill>
                  </a:tcPr>
                </a:tc>
                <a:tc>
                  <a:txBody>
                    <a:bodyPr/>
                    <a:lstStyle/>
                    <a:p>
                      <a:pPr>
                        <a:defRPr sz="950">
                          <a:solidFill>
                            <a:srgbClr val="A3B4CC"/>
                          </a:solidFill>
                        </a:defRPr>
                      </a:pPr>
                      <a:r>
                        <a:t>Lost in chat history</a:t>
                      </a:r>
                    </a:p>
                  </a:txBody>
                  <a:tcPr>
                    <a:solidFill>
                      <a:srgbClr val="0E182B"/>
                    </a:solidFill>
                  </a:tcPr>
                </a:tc>
                <a:tc>
                  <a:txBody>
                    <a:bodyPr/>
                    <a:lstStyle/>
                    <a:p>
                      <a:pPr>
                        <a:defRPr sz="950">
                          <a:solidFill>
                            <a:srgbClr val="A3B4CC"/>
                          </a:solidFill>
                        </a:defRPr>
                      </a:pPr>
                      <a:r>
                        <a:t>Binary complete/incomplete</a:t>
                      </a:r>
                    </a:p>
                  </a:txBody>
                  <a:tcPr>
                    <a:solidFill>
                      <a:srgbClr val="0E182B"/>
                    </a:solidFill>
                  </a:tcPr>
                </a:tc>
                <a:tc>
                  <a:txBody>
                    <a:bodyPr/>
                    <a:lstStyle/>
                    <a:p>
                      <a:pPr>
                        <a:defRPr sz="950" b="1">
                          <a:solidFill>
                            <a:srgbClr val="52DCA4"/>
                          </a:solidFill>
                        </a:defRPr>
                      </a:pPr>
                      <a:r>
                        <a:t>Automated state split: fulfilled vs remaining</a:t>
                      </a:r>
                    </a:p>
                  </a:txBody>
                  <a:tcPr>
                    <a:solidFill>
                      <a:srgbClr val="0E182B"/>
                    </a:solidFill>
                  </a:tcPr>
                </a:tc>
              </a:tr>
              <a:tr h="487680">
                <a:tc>
                  <a:txBody>
                    <a:bodyPr/>
                    <a:lstStyle/>
                    <a:p>
                      <a:pPr>
                        <a:defRPr sz="950" b="1">
                          <a:solidFill>
                            <a:srgbClr val="F4F8FF"/>
                          </a:solidFill>
                        </a:defRPr>
                      </a:pPr>
                      <a:r>
                        <a:t>Delivery Confirmation</a:t>
                      </a:r>
                    </a:p>
                  </a:txBody>
                  <a:tcPr>
                    <a:solidFill>
                      <a:srgbClr val="111D33"/>
                    </a:solidFill>
                  </a:tcPr>
                </a:tc>
                <a:tc>
                  <a:txBody>
                    <a:bodyPr/>
                    <a:lstStyle/>
                    <a:p>
                      <a:pPr>
                        <a:defRPr sz="950">
                          <a:solidFill>
                            <a:srgbClr val="A3B4CC"/>
                          </a:solidFill>
                        </a:defRPr>
                      </a:pPr>
                      <a:r>
                        <a:t>Assumed on driver call</a:t>
                      </a:r>
                    </a:p>
                  </a:txBody>
                  <a:tcPr>
                    <a:solidFill>
                      <a:srgbClr val="111D33"/>
                    </a:solidFill>
                  </a:tcPr>
                </a:tc>
                <a:tc>
                  <a:txBody>
                    <a:bodyPr/>
                    <a:lstStyle/>
                    <a:p>
                      <a:pPr>
                        <a:defRPr sz="950">
                          <a:solidFill>
                            <a:srgbClr val="A3B4CC"/>
                          </a:solidFill>
                        </a:defRPr>
                      </a:pPr>
                      <a:r>
                        <a:t>Driver click without proof</a:t>
                      </a:r>
                    </a:p>
                  </a:txBody>
                  <a:tcPr>
                    <a:solidFill>
                      <a:srgbClr val="111D33"/>
                    </a:solidFill>
                  </a:tcPr>
                </a:tc>
                <a:tc>
                  <a:txBody>
                    <a:bodyPr/>
                    <a:lstStyle/>
                    <a:p>
                      <a:pPr>
                        <a:defRPr sz="950" b="1">
                          <a:solidFill>
                            <a:srgbClr val="52DCA4"/>
                          </a:solidFill>
                        </a:defRPr>
                      </a:pPr>
                      <a:r>
                        <a:t>Two-phase: Recipient doctor verifies count</a:t>
                      </a:r>
                    </a:p>
                  </a:txBody>
                  <a:tcPr>
                    <a:solidFill>
                      <a:srgbClr val="111D33"/>
                    </a:solidFill>
                  </a:tcPr>
                </a:tc>
              </a:tr>
              <a:tr h="487680">
                <a:tc>
                  <a:txBody>
                    <a:bodyPr/>
                    <a:lstStyle/>
                    <a:p>
                      <a:pPr>
                        <a:defRPr sz="950" b="1">
                          <a:solidFill>
                            <a:srgbClr val="F4F8FF"/>
                          </a:solidFill>
                        </a:defRPr>
                      </a:pPr>
                      <a:r>
                        <a:t>Offline Operation</a:t>
                      </a:r>
                    </a:p>
                  </a:txBody>
                  <a:tcPr>
                    <a:solidFill>
                      <a:srgbClr val="0E182B"/>
                    </a:solidFill>
                  </a:tcPr>
                </a:tc>
                <a:tc>
                  <a:txBody>
                    <a:bodyPr/>
                    <a:lstStyle/>
                    <a:p>
                      <a:pPr>
                        <a:defRPr sz="950">
                          <a:solidFill>
                            <a:srgbClr val="A3B4CC"/>
                          </a:solidFill>
                        </a:defRPr>
                      </a:pPr>
                      <a:r>
                        <a:t>Fails when signal drops</a:t>
                      </a:r>
                    </a:p>
                  </a:txBody>
                  <a:tcPr>
                    <a:solidFill>
                      <a:srgbClr val="0E182B"/>
                    </a:solidFill>
                  </a:tcPr>
                </a:tc>
                <a:tc>
                  <a:txBody>
                    <a:bodyPr/>
                    <a:lstStyle/>
                    <a:p>
                      <a:pPr>
                        <a:defRPr sz="950">
                          <a:solidFill>
                            <a:srgbClr val="A3B4CC"/>
                          </a:solidFill>
                        </a:defRPr>
                      </a:pPr>
                      <a:r>
                        <a:t>Browser errors &amp; lost forms</a:t>
                      </a:r>
                    </a:p>
                  </a:txBody>
                  <a:tcPr>
                    <a:solidFill>
                      <a:srgbClr val="0E182B"/>
                    </a:solidFill>
                  </a:tcPr>
                </a:tc>
                <a:tc>
                  <a:txBody>
                    <a:bodyPr/>
                    <a:lstStyle/>
                    <a:p>
                      <a:pPr>
                        <a:defRPr sz="950" b="1">
                          <a:solidFill>
                            <a:srgbClr val="52DCA4"/>
                          </a:solidFill>
                        </a:defRPr>
                      </a:pPr>
                      <a:r>
                        <a:t>Service Worker + IndexedDB outbox queue</a:t>
                      </a:r>
                    </a:p>
                  </a:txBody>
                  <a:tcPr>
                    <a:solidFill>
                      <a:srgbClr val="0E182B"/>
                    </a:solidFill>
                  </a:tcPr>
                </a:tc>
              </a:tr>
              <a:tr h="487680">
                <a:tc>
                  <a:txBody>
                    <a:bodyPr/>
                    <a:lstStyle/>
                    <a:p>
                      <a:pPr>
                        <a:defRPr sz="950" b="1">
                          <a:solidFill>
                            <a:srgbClr val="F4F8FF"/>
                          </a:solidFill>
                        </a:defRPr>
                      </a:pPr>
                      <a:r>
                        <a:t>Auditability &amp; History</a:t>
                      </a:r>
                    </a:p>
                  </a:txBody>
                  <a:tcPr>
                    <a:solidFill>
                      <a:srgbClr val="111D33"/>
                    </a:solidFill>
                  </a:tcPr>
                </a:tc>
                <a:tc>
                  <a:txBody>
                    <a:bodyPr/>
                    <a:lstStyle/>
                    <a:p>
                      <a:pPr>
                        <a:defRPr sz="950">
                          <a:solidFill>
                            <a:srgbClr val="A3B4CC"/>
                          </a:solidFill>
                        </a:defRPr>
                      </a:pPr>
                      <a:r>
                        <a:t>Ephemeral, easily deleted</a:t>
                      </a:r>
                    </a:p>
                  </a:txBody>
                  <a:tcPr>
                    <a:solidFill>
                      <a:srgbClr val="111D33"/>
                    </a:solidFill>
                  </a:tcPr>
                </a:tc>
                <a:tc>
                  <a:txBody>
                    <a:bodyPr/>
                    <a:lstStyle/>
                    <a:p>
                      <a:pPr>
                        <a:defRPr sz="950">
                          <a:solidFill>
                            <a:srgbClr val="A3B4CC"/>
                          </a:solidFill>
                        </a:defRPr>
                      </a:pPr>
                      <a:r>
                        <a:t>Basic edit timestamps</a:t>
                      </a:r>
                    </a:p>
                  </a:txBody>
                  <a:tcPr>
                    <a:solidFill>
                      <a:srgbClr val="111D33"/>
                    </a:solidFill>
                  </a:tcPr>
                </a:tc>
                <a:tc>
                  <a:txBody>
                    <a:bodyPr/>
                    <a:lstStyle/>
                    <a:p>
                      <a:pPr>
                        <a:defRPr sz="950" b="1">
                          <a:solidFill>
                            <a:srgbClr val="52DCA4"/>
                          </a:solidFill>
                        </a:defRPr>
                      </a:pPr>
                      <a:r>
                        <a:t>Immutable append-only audit trail with diffs</a:t>
                      </a:r>
                    </a:p>
                  </a:txBody>
                  <a:tcPr>
                    <a:solidFill>
                      <a:srgbClr val="111D33"/>
                    </a:solidFill>
                  </a:tcPr>
                </a:tc>
              </a:tr>
            </a:tbl>
          </a:graphicData>
        </a:graphic>
      </p:graphicFrame>
      <p:sp>
        <p:nvSpPr>
          <p:cNvPr id="6" name="TextBox 5"/>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B: COMPARATIVE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B · PROPOSED SOLUTION</a:t>
            </a:r>
          </a:p>
          <a:p>
            <a:pPr>
              <a:spcBef>
                <a:spcPts val="300"/>
              </a:spcBef>
              <a:defRPr sz="2000" b="1">
                <a:solidFill>
                  <a:srgbClr val="F4F8FF"/>
                </a:solidFill>
                <a:latin typeface="Arial"/>
              </a:defRPr>
            </a:pPr>
            <a:r>
              <a:t>The EDITH Operational Lifecycle: 7-Stage Accountable Coordination</a:t>
            </a:r>
          </a:p>
          <a:p>
            <a:pPr>
              <a:spcBef>
                <a:spcPts val="200"/>
              </a:spcBef>
              <a:defRPr sz="1100">
                <a:solidFill>
                  <a:srgbClr val="A3B4CC"/>
                </a:solidFill>
                <a:latin typeface="Arial"/>
              </a:defRPr>
            </a:pPr>
            <a:r>
              <a:t>Every emergency request moves through an explicit, state-machine-governed progression with non-repudiation.</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06 / 16</a:t>
            </a:r>
          </a:p>
        </p:txBody>
      </p:sp>
      <p:sp>
        <p:nvSpPr>
          <p:cNvPr id="5" name="Rounded Rectangle 4"/>
          <p:cNvSpPr/>
          <p:nvPr/>
        </p:nvSpPr>
        <p:spPr>
          <a:xfrm>
            <a:off x="731520" y="1645920"/>
            <a:ext cx="1417320" cy="23774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55648"/>
            <a:ext cx="1234440" cy="2157984"/>
          </a:xfrm>
          <a:prstGeom prst="rect">
            <a:avLst/>
          </a:prstGeom>
          <a:noFill/>
        </p:spPr>
        <p:txBody>
          <a:bodyPr wrap="square">
            <a:spAutoFit/>
          </a:bodyPr>
          <a:lstStyle/>
          <a:p>
            <a:pPr>
              <a:defRPr b="1" sz="1000">
                <a:solidFill>
                  <a:srgbClr val="2BDCE0"/>
                </a:solidFill>
              </a:defRPr>
            </a:pPr>
            <a:r>
              <a:t>1. SUBMITTED</a:t>
            </a:r>
          </a:p>
          <a:p>
            <a:pPr>
              <a:spcBef>
                <a:spcPts val="600"/>
              </a:spcBef>
              <a:defRPr sz="850">
                <a:solidFill>
                  <a:srgbClr val="A3B4CC"/>
                </a:solidFill>
              </a:defRPr>
            </a:pPr>
            <a:r>
              <a:t>Camp logs urgent need (e.g. 20 O2 cylinders)</a:t>
            </a:r>
          </a:p>
        </p:txBody>
      </p:sp>
      <p:sp>
        <p:nvSpPr>
          <p:cNvPr id="7" name="Rounded Rectangle 6"/>
          <p:cNvSpPr/>
          <p:nvPr/>
        </p:nvSpPr>
        <p:spPr>
          <a:xfrm>
            <a:off x="2286000" y="1645920"/>
            <a:ext cx="1417320" cy="237744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755648"/>
            <a:ext cx="1234440" cy="2157984"/>
          </a:xfrm>
          <a:prstGeom prst="rect">
            <a:avLst/>
          </a:prstGeom>
          <a:noFill/>
        </p:spPr>
        <p:txBody>
          <a:bodyPr wrap="square">
            <a:spAutoFit/>
          </a:bodyPr>
          <a:lstStyle/>
          <a:p>
            <a:pPr>
              <a:defRPr b="1" sz="1000">
                <a:solidFill>
                  <a:srgbClr val="4C91FF"/>
                </a:solidFill>
              </a:defRPr>
            </a:pPr>
            <a:r>
              <a:t>2. ACKNOWLEDGED</a:t>
            </a:r>
          </a:p>
          <a:p>
            <a:pPr>
              <a:spcBef>
                <a:spcPts val="600"/>
              </a:spcBef>
              <a:defRPr sz="850">
                <a:solidFill>
                  <a:srgbClr val="A3B4CC"/>
                </a:solidFill>
              </a:defRPr>
            </a:pPr>
            <a:r>
              <a:t>ICC coordinator takes operational ownership</a:t>
            </a:r>
          </a:p>
        </p:txBody>
      </p:sp>
      <p:sp>
        <p:nvSpPr>
          <p:cNvPr id="9" name="Rounded Rectangle 8"/>
          <p:cNvSpPr/>
          <p:nvPr/>
        </p:nvSpPr>
        <p:spPr>
          <a:xfrm>
            <a:off x="3840480" y="1645920"/>
            <a:ext cx="1417320" cy="23774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1755648"/>
            <a:ext cx="1234440" cy="2157984"/>
          </a:xfrm>
          <a:prstGeom prst="rect">
            <a:avLst/>
          </a:prstGeom>
          <a:noFill/>
        </p:spPr>
        <p:txBody>
          <a:bodyPr wrap="square">
            <a:spAutoFit/>
          </a:bodyPr>
          <a:lstStyle/>
          <a:p>
            <a:pPr>
              <a:defRPr b="1" sz="1000">
                <a:solidFill>
                  <a:srgbClr val="2BDCE0"/>
                </a:solidFill>
              </a:defRPr>
            </a:pPr>
            <a:r>
              <a:t>3. OFFER MADE</a:t>
            </a:r>
          </a:p>
          <a:p>
            <a:pPr>
              <a:spcBef>
                <a:spcPts val="600"/>
              </a:spcBef>
              <a:defRPr sz="850">
                <a:solidFill>
                  <a:srgbClr val="A3B4CC"/>
                </a:solidFill>
              </a:defRPr>
            </a:pPr>
            <a:r>
              <a:t>Nearby hospital volunteers surplus (12 units)</a:t>
            </a:r>
          </a:p>
        </p:txBody>
      </p:sp>
      <p:sp>
        <p:nvSpPr>
          <p:cNvPr id="11" name="Rounded Rectangle 10"/>
          <p:cNvSpPr/>
          <p:nvPr/>
        </p:nvSpPr>
        <p:spPr>
          <a:xfrm>
            <a:off x="5394959" y="1645920"/>
            <a:ext cx="1417320" cy="237744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399" y="1755648"/>
            <a:ext cx="1234440" cy="2157984"/>
          </a:xfrm>
          <a:prstGeom prst="rect">
            <a:avLst/>
          </a:prstGeom>
          <a:noFill/>
        </p:spPr>
        <p:txBody>
          <a:bodyPr wrap="square">
            <a:spAutoFit/>
          </a:bodyPr>
          <a:lstStyle/>
          <a:p>
            <a:pPr>
              <a:defRPr b="1" sz="1000">
                <a:solidFill>
                  <a:srgbClr val="FFA44C"/>
                </a:solidFill>
              </a:defRPr>
            </a:pPr>
            <a:r>
              <a:t>4. ASSIGNED</a:t>
            </a:r>
          </a:p>
          <a:p>
            <a:pPr>
              <a:spcBef>
                <a:spcPts val="600"/>
              </a:spcBef>
              <a:defRPr sz="850">
                <a:solidFill>
                  <a:srgbClr val="A3B4CC"/>
                </a:solidFill>
              </a:defRPr>
            </a:pPr>
            <a:r>
              <a:t>ICC approves allocation; DB row-lock committed</a:t>
            </a:r>
          </a:p>
        </p:txBody>
      </p:sp>
      <p:sp>
        <p:nvSpPr>
          <p:cNvPr id="13" name="Rounded Rectangle 12"/>
          <p:cNvSpPr/>
          <p:nvPr/>
        </p:nvSpPr>
        <p:spPr>
          <a:xfrm>
            <a:off x="6949440" y="1645920"/>
            <a:ext cx="1417320" cy="237744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755648"/>
            <a:ext cx="1234440" cy="2157984"/>
          </a:xfrm>
          <a:prstGeom prst="rect">
            <a:avLst/>
          </a:prstGeom>
          <a:noFill/>
        </p:spPr>
        <p:txBody>
          <a:bodyPr wrap="square">
            <a:spAutoFit/>
          </a:bodyPr>
          <a:lstStyle/>
          <a:p>
            <a:pPr>
              <a:defRPr b="1" sz="1000">
                <a:solidFill>
                  <a:srgbClr val="4C91FF"/>
                </a:solidFill>
              </a:defRPr>
            </a:pPr>
            <a:r>
              <a:t>5. IN TRANSIT</a:t>
            </a:r>
          </a:p>
          <a:p>
            <a:pPr>
              <a:spcBef>
                <a:spcPts val="600"/>
              </a:spcBef>
              <a:defRPr sz="850">
                <a:solidFill>
                  <a:srgbClr val="A3B4CC"/>
                </a:solidFill>
              </a:defRPr>
            </a:pPr>
            <a:r>
              <a:t>Logistics packages cargo, logs vehicle ID &amp; dispatches</a:t>
            </a:r>
          </a:p>
        </p:txBody>
      </p:sp>
      <p:sp>
        <p:nvSpPr>
          <p:cNvPr id="15" name="Rounded Rectangle 14"/>
          <p:cNvSpPr/>
          <p:nvPr/>
        </p:nvSpPr>
        <p:spPr>
          <a:xfrm>
            <a:off x="8503920" y="1645920"/>
            <a:ext cx="1417320" cy="237744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1755648"/>
            <a:ext cx="1234440" cy="2157984"/>
          </a:xfrm>
          <a:prstGeom prst="rect">
            <a:avLst/>
          </a:prstGeom>
          <a:noFill/>
        </p:spPr>
        <p:txBody>
          <a:bodyPr wrap="square">
            <a:spAutoFit/>
          </a:bodyPr>
          <a:lstStyle/>
          <a:p>
            <a:pPr>
              <a:defRPr b="1" sz="1000">
                <a:solidFill>
                  <a:srgbClr val="FFA44C"/>
                </a:solidFill>
              </a:defRPr>
            </a:pPr>
            <a:r>
              <a:t>6. DROP-OFF</a:t>
            </a:r>
          </a:p>
          <a:p>
            <a:pPr>
              <a:spcBef>
                <a:spcPts val="600"/>
              </a:spcBef>
              <a:defRPr sz="850">
                <a:solidFill>
                  <a:srgbClr val="A3B4CC"/>
                </a:solidFill>
              </a:defRPr>
            </a:pPr>
            <a:r>
              <a:t>Driver logs arrival at camp gate (Drop-off only)</a:t>
            </a:r>
          </a:p>
        </p:txBody>
      </p:sp>
      <p:sp>
        <p:nvSpPr>
          <p:cNvPr id="17" name="Rounded Rectangle 16"/>
          <p:cNvSpPr/>
          <p:nvPr/>
        </p:nvSpPr>
        <p:spPr>
          <a:xfrm>
            <a:off x="10058400" y="1645920"/>
            <a:ext cx="1417320" cy="237744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0" y="1755648"/>
            <a:ext cx="1234440" cy="2157984"/>
          </a:xfrm>
          <a:prstGeom prst="rect">
            <a:avLst/>
          </a:prstGeom>
          <a:noFill/>
        </p:spPr>
        <p:txBody>
          <a:bodyPr wrap="square">
            <a:spAutoFit/>
          </a:bodyPr>
          <a:lstStyle/>
          <a:p>
            <a:pPr>
              <a:defRPr b="1" sz="1000">
                <a:solidFill>
                  <a:srgbClr val="52DCA4"/>
                </a:solidFill>
              </a:defRPr>
            </a:pPr>
            <a:r>
              <a:t>7. CONFIRMED</a:t>
            </a:r>
          </a:p>
          <a:p>
            <a:pPr>
              <a:spcBef>
                <a:spcPts val="600"/>
              </a:spcBef>
              <a:defRPr sz="850">
                <a:solidFill>
                  <a:srgbClr val="A3B4CC"/>
                </a:solidFill>
              </a:defRPr>
            </a:pPr>
            <a:r>
              <a:t>Recipient physician inspects &amp; verifies quantity</a:t>
            </a:r>
          </a:p>
        </p:txBody>
      </p:sp>
      <p:sp>
        <p:nvSpPr>
          <p:cNvPr id="19" name="Rounded Rectangle 18"/>
          <p:cNvSpPr/>
          <p:nvPr/>
        </p:nvSpPr>
        <p:spPr>
          <a:xfrm>
            <a:off x="731520" y="4297680"/>
            <a:ext cx="3383280" cy="173736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34840"/>
            <a:ext cx="3108960" cy="1463040"/>
          </a:xfrm>
          <a:prstGeom prst="rect">
            <a:avLst/>
          </a:prstGeom>
          <a:noFill/>
        </p:spPr>
        <p:txBody>
          <a:bodyPr wrap="square">
            <a:spAutoFit/>
          </a:bodyPr>
          <a:lstStyle/>
          <a:p>
            <a:pPr>
              <a:defRPr b="1" sz="1100">
                <a:solidFill>
                  <a:srgbClr val="FFA44C"/>
                </a:solidFill>
              </a:defRPr>
            </a:pPr>
            <a:r>
              <a:t>Exception A: Partial Fulfilment Split</a:t>
            </a:r>
          </a:p>
          <a:p>
            <a:pPr>
              <a:spcBef>
                <a:spcPts val="400"/>
              </a:spcBef>
              <a:defRPr sz="950">
                <a:solidFill>
                  <a:srgbClr val="A3B4CC"/>
                </a:solidFill>
              </a:defRPr>
            </a:pPr>
            <a:r>
              <a:t>If 12 of 20 units are verified, 12 units resolve while 8 units remain active in the regional triage queue for a secondary donor.</a:t>
            </a:r>
          </a:p>
        </p:txBody>
      </p:sp>
      <p:sp>
        <p:nvSpPr>
          <p:cNvPr id="21" name="Rounded Rectangle 20"/>
          <p:cNvSpPr/>
          <p:nvPr/>
        </p:nvSpPr>
        <p:spPr>
          <a:xfrm>
            <a:off x="4389120" y="4297680"/>
            <a:ext cx="3383280" cy="1737360"/>
          </a:xfrm>
          <a:prstGeom prst="roundRect">
            <a:avLst/>
          </a:prstGeom>
          <a:solidFill>
            <a:srgbClr val="111D33"/>
          </a:solidFill>
          <a:ln w="12700">
            <a:solidFill>
              <a:srgbClr val="FF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4434840"/>
            <a:ext cx="3108960" cy="1463040"/>
          </a:xfrm>
          <a:prstGeom prst="rect">
            <a:avLst/>
          </a:prstGeom>
          <a:noFill/>
        </p:spPr>
        <p:txBody>
          <a:bodyPr wrap="square">
            <a:spAutoFit/>
          </a:bodyPr>
          <a:lstStyle/>
          <a:p>
            <a:pPr>
              <a:defRPr b="1" sz="1100">
                <a:solidFill>
                  <a:srgbClr val="FF6878"/>
                </a:solidFill>
              </a:defRPr>
            </a:pPr>
            <a:r>
              <a:t>Exception B: Delivery Dispute Protocol</a:t>
            </a:r>
          </a:p>
          <a:p>
            <a:pPr>
              <a:spcBef>
                <a:spcPts val="400"/>
              </a:spcBef>
              <a:defRPr sz="950">
                <a:solidFill>
                  <a:srgbClr val="A3B4CC"/>
                </a:solidFill>
              </a:defRPr>
            </a:pPr>
            <a:r>
              <a:t>If cargo arrives damaged or missing, recipient flags dispute. Resolution halts, ICC alerts trigger, and an audit review begins.</a:t>
            </a:r>
          </a:p>
        </p:txBody>
      </p:sp>
      <p:sp>
        <p:nvSpPr>
          <p:cNvPr id="23" name="Rounded Rectangle 22"/>
          <p:cNvSpPr/>
          <p:nvPr/>
        </p:nvSpPr>
        <p:spPr>
          <a:xfrm>
            <a:off x="8046720" y="4297680"/>
            <a:ext cx="3383280" cy="173736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4434840"/>
            <a:ext cx="3108960" cy="1463040"/>
          </a:xfrm>
          <a:prstGeom prst="rect">
            <a:avLst/>
          </a:prstGeom>
          <a:noFill/>
        </p:spPr>
        <p:txBody>
          <a:bodyPr wrap="square">
            <a:spAutoFit/>
          </a:bodyPr>
          <a:lstStyle/>
          <a:p>
            <a:pPr>
              <a:defRPr b="1" sz="1100">
                <a:solidFill>
                  <a:srgbClr val="2BDCE0"/>
                </a:solidFill>
              </a:defRPr>
            </a:pPr>
            <a:r>
              <a:t>Exception C: Reassignment &amp; Road Pivots</a:t>
            </a:r>
          </a:p>
          <a:p>
            <a:pPr>
              <a:spcBef>
                <a:spcPts val="400"/>
              </a:spcBef>
              <a:defRPr sz="950">
                <a:solidFill>
                  <a:srgbClr val="A3B4CC"/>
                </a:solidFill>
              </a:defRPr>
            </a:pPr>
            <a:r>
              <a:t>If floodwaters submerge transit roads, coordinators can reassign cargo to alternate staging hubs with complete historical logging.</a:t>
            </a:r>
          </a:p>
        </p:txBody>
      </p:sp>
      <p:sp>
        <p:nvSpPr>
          <p:cNvPr id="25" name="TextBox 24"/>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B: PROPOSED SOLUTION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B · OFFLINE RESILIENCE</a:t>
            </a:r>
          </a:p>
          <a:p>
            <a:pPr>
              <a:spcBef>
                <a:spcPts val="300"/>
              </a:spcBef>
              <a:defRPr sz="2000" b="1">
                <a:solidFill>
                  <a:srgbClr val="F4F8FF"/>
                </a:solidFill>
                <a:latin typeface="Arial"/>
              </a:defRPr>
            </a:pPr>
            <a:r>
              <a:t>Offline Resilience: The EDITH Difference</a:t>
            </a:r>
          </a:p>
          <a:p>
            <a:pPr>
              <a:spcBef>
                <a:spcPts val="200"/>
              </a:spcBef>
              <a:defRPr sz="1100">
                <a:solidFill>
                  <a:srgbClr val="A3B4CC"/>
                </a:solidFill>
                <a:latin typeface="Arial"/>
              </a:defRPr>
            </a:pPr>
            <a:r>
              <a:t>Preserving operational continuity during network blackouts — without corrupting central state.</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07 / 16</a:t>
            </a:r>
          </a:p>
        </p:txBody>
      </p:sp>
      <p:sp>
        <p:nvSpPr>
          <p:cNvPr id="5" name="Rounded Rectangle 4"/>
          <p:cNvSpPr/>
          <p:nvPr/>
        </p:nvSpPr>
        <p:spPr>
          <a:xfrm>
            <a:off x="731520" y="1645920"/>
            <a:ext cx="1645920" cy="201168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55648"/>
            <a:ext cx="1463040" cy="1792224"/>
          </a:xfrm>
          <a:prstGeom prst="rect">
            <a:avLst/>
          </a:prstGeom>
          <a:noFill/>
        </p:spPr>
        <p:txBody>
          <a:bodyPr wrap="square">
            <a:spAutoFit/>
          </a:bodyPr>
          <a:lstStyle/>
          <a:p>
            <a:pPr>
              <a:defRPr b="1" sz="1050">
                <a:solidFill>
                  <a:srgbClr val="52DCA4"/>
                </a:solidFill>
              </a:defRPr>
            </a:pPr>
            <a:r>
              <a:t>Step 1: Online Baseline</a:t>
            </a:r>
          </a:p>
          <a:p>
            <a:pPr>
              <a:spcBef>
                <a:spcPts val="400"/>
              </a:spcBef>
              <a:defRPr sz="900">
                <a:solidFill>
                  <a:srgbClr val="A3B4CC"/>
                </a:solidFill>
              </a:defRPr>
            </a:pPr>
            <a:r>
              <a:t>Standard HTTPS queries to FastAPI backend.</a:t>
            </a:r>
          </a:p>
        </p:txBody>
      </p:sp>
      <p:sp>
        <p:nvSpPr>
          <p:cNvPr id="7" name="Rounded Rectangle 6"/>
          <p:cNvSpPr/>
          <p:nvPr/>
        </p:nvSpPr>
        <p:spPr>
          <a:xfrm>
            <a:off x="2560320" y="1645920"/>
            <a:ext cx="1645920" cy="2011680"/>
          </a:xfrm>
          <a:prstGeom prst="roundRect">
            <a:avLst/>
          </a:prstGeom>
          <a:solidFill>
            <a:srgbClr val="111D33"/>
          </a:solidFill>
          <a:ln w="12700">
            <a:solidFill>
              <a:srgbClr val="FF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1760" y="1755648"/>
            <a:ext cx="1463040" cy="1792224"/>
          </a:xfrm>
          <a:prstGeom prst="rect">
            <a:avLst/>
          </a:prstGeom>
          <a:noFill/>
        </p:spPr>
        <p:txBody>
          <a:bodyPr wrap="square">
            <a:spAutoFit/>
          </a:bodyPr>
          <a:lstStyle/>
          <a:p>
            <a:pPr>
              <a:defRPr b="1" sz="1050">
                <a:solidFill>
                  <a:srgbClr val="FF6878"/>
                </a:solidFill>
              </a:defRPr>
            </a:pPr>
            <a:r>
              <a:t>Step 2: Signal Drops</a:t>
            </a:r>
          </a:p>
          <a:p>
            <a:pPr>
              <a:spcBef>
                <a:spcPts val="400"/>
              </a:spcBef>
              <a:defRPr sz="900">
                <a:solidFill>
                  <a:srgbClr val="A3B4CC"/>
                </a:solidFill>
              </a:defRPr>
            </a:pPr>
            <a:r>
              <a:t>Service worker catches dropped calls gracefully.</a:t>
            </a:r>
          </a:p>
        </p:txBody>
      </p:sp>
      <p:sp>
        <p:nvSpPr>
          <p:cNvPr id="9" name="Rounded Rectangle 8"/>
          <p:cNvSpPr/>
          <p:nvPr/>
        </p:nvSpPr>
        <p:spPr>
          <a:xfrm>
            <a:off x="4389120" y="1645920"/>
            <a:ext cx="1645920" cy="201168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755648"/>
            <a:ext cx="1463040" cy="1792224"/>
          </a:xfrm>
          <a:prstGeom prst="rect">
            <a:avLst/>
          </a:prstGeom>
          <a:noFill/>
        </p:spPr>
        <p:txBody>
          <a:bodyPr wrap="square">
            <a:spAutoFit/>
          </a:bodyPr>
          <a:lstStyle/>
          <a:p>
            <a:pPr>
              <a:defRPr b="1" sz="1050">
                <a:solidFill>
                  <a:srgbClr val="FFA44C"/>
                </a:solidFill>
              </a:defRPr>
            </a:pPr>
            <a:r>
              <a:t>Step 3: Local Capture</a:t>
            </a:r>
          </a:p>
          <a:p>
            <a:pPr>
              <a:spcBef>
                <a:spcPts val="400"/>
              </a:spcBef>
              <a:defRPr sz="900">
                <a:solidFill>
                  <a:srgbClr val="A3B4CC"/>
                </a:solidFill>
              </a:defRPr>
            </a:pPr>
            <a:r>
              <a:t>Request saved immediately to IndexedDB outbox.</a:t>
            </a:r>
          </a:p>
        </p:txBody>
      </p:sp>
      <p:sp>
        <p:nvSpPr>
          <p:cNvPr id="11" name="Rounded Rectangle 10"/>
          <p:cNvSpPr/>
          <p:nvPr/>
        </p:nvSpPr>
        <p:spPr>
          <a:xfrm>
            <a:off x="6217920" y="1645920"/>
            <a:ext cx="1645920" cy="201168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755648"/>
            <a:ext cx="1463040" cy="1792224"/>
          </a:xfrm>
          <a:prstGeom prst="rect">
            <a:avLst/>
          </a:prstGeom>
          <a:noFill/>
        </p:spPr>
        <p:txBody>
          <a:bodyPr wrap="square">
            <a:spAutoFit/>
          </a:bodyPr>
          <a:lstStyle/>
          <a:p>
            <a:pPr>
              <a:defRPr b="1" sz="1050">
                <a:solidFill>
                  <a:srgbClr val="2BDCE0"/>
                </a:solidFill>
              </a:defRPr>
            </a:pPr>
            <a:r>
              <a:t>Step 4: Explicit UI Truth</a:t>
            </a:r>
          </a:p>
          <a:p>
            <a:pPr>
              <a:spcBef>
                <a:spcPts val="400"/>
              </a:spcBef>
              <a:defRPr sz="900">
                <a:solidFill>
                  <a:srgbClr val="A3B4CC"/>
                </a:solidFill>
              </a:defRPr>
            </a:pPr>
            <a:r>
              <a:t>Displays 'Queued Locally · Pending Sync' amber badge.</a:t>
            </a:r>
          </a:p>
        </p:txBody>
      </p:sp>
      <p:sp>
        <p:nvSpPr>
          <p:cNvPr id="13" name="Rounded Rectangle 12"/>
          <p:cNvSpPr/>
          <p:nvPr/>
        </p:nvSpPr>
        <p:spPr>
          <a:xfrm>
            <a:off x="8046720" y="1645920"/>
            <a:ext cx="1645920" cy="201168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755648"/>
            <a:ext cx="1463040" cy="1792224"/>
          </a:xfrm>
          <a:prstGeom prst="rect">
            <a:avLst/>
          </a:prstGeom>
          <a:noFill/>
        </p:spPr>
        <p:txBody>
          <a:bodyPr wrap="square">
            <a:spAutoFit/>
          </a:bodyPr>
          <a:lstStyle/>
          <a:p>
            <a:pPr>
              <a:defRPr b="1" sz="1050">
                <a:solidFill>
                  <a:srgbClr val="4C91FF"/>
                </a:solidFill>
              </a:defRPr>
            </a:pPr>
            <a:r>
              <a:t>Step 5: Signal Restored</a:t>
            </a:r>
          </a:p>
          <a:p>
            <a:pPr>
              <a:spcBef>
                <a:spcPts val="400"/>
              </a:spcBef>
              <a:defRPr sz="900">
                <a:solidFill>
                  <a:srgbClr val="A3B4CC"/>
                </a:solidFill>
              </a:defRPr>
            </a:pPr>
            <a:r>
              <a:t>Sync manager replays payload with Idempotency Key.</a:t>
            </a:r>
          </a:p>
        </p:txBody>
      </p:sp>
      <p:sp>
        <p:nvSpPr>
          <p:cNvPr id="15" name="Rounded Rectangle 14"/>
          <p:cNvSpPr/>
          <p:nvPr/>
        </p:nvSpPr>
        <p:spPr>
          <a:xfrm>
            <a:off x="9875520" y="1645920"/>
            <a:ext cx="1645920" cy="201168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0" y="1755648"/>
            <a:ext cx="1463040" cy="1792224"/>
          </a:xfrm>
          <a:prstGeom prst="rect">
            <a:avLst/>
          </a:prstGeom>
          <a:noFill/>
        </p:spPr>
        <p:txBody>
          <a:bodyPr wrap="square">
            <a:spAutoFit/>
          </a:bodyPr>
          <a:lstStyle/>
          <a:p>
            <a:pPr>
              <a:defRPr b="1" sz="1050">
                <a:solidFill>
                  <a:srgbClr val="52DCA4"/>
                </a:solidFill>
              </a:defRPr>
            </a:pPr>
            <a:r>
              <a:t>Step 6: Server Commit</a:t>
            </a:r>
          </a:p>
          <a:p>
            <a:pPr>
              <a:spcBef>
                <a:spcPts val="400"/>
              </a:spcBef>
              <a:defRPr sz="900">
                <a:solidFill>
                  <a:srgbClr val="A3B4CC"/>
                </a:solidFill>
              </a:defRPr>
            </a:pPr>
            <a:r>
              <a:t>FastAPI validates &amp; commits to PostgreSQL truth store.</a:t>
            </a:r>
          </a:p>
        </p:txBody>
      </p:sp>
      <p:sp>
        <p:nvSpPr>
          <p:cNvPr id="17" name="Rounded Rectangle 16"/>
          <p:cNvSpPr/>
          <p:nvPr/>
        </p:nvSpPr>
        <p:spPr>
          <a:xfrm>
            <a:off x="731520" y="3931920"/>
            <a:ext cx="3383280" cy="210312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096512"/>
            <a:ext cx="3054096" cy="1773936"/>
          </a:xfrm>
          <a:prstGeom prst="rect">
            <a:avLst/>
          </a:prstGeom>
          <a:noFill/>
        </p:spPr>
        <p:txBody>
          <a:bodyPr wrap="square">
            <a:spAutoFit/>
          </a:bodyPr>
          <a:lstStyle/>
          <a:p>
            <a:pPr>
              <a:defRPr b="1" sz="1200">
                <a:solidFill>
                  <a:srgbClr val="2BDCE0"/>
                </a:solidFill>
              </a:defRPr>
            </a:pPr>
            <a:r>
              <a:t>No False Mesh Claims</a:t>
            </a:r>
          </a:p>
          <a:p>
            <a:pPr>
              <a:spcBef>
                <a:spcPts val="600"/>
              </a:spcBef>
              <a:defRPr sz="1000">
                <a:solidFill>
                  <a:srgbClr val="A3B4CC"/>
                </a:solidFill>
              </a:defRPr>
            </a:pPr>
            <a:r>
              <a:t>Separate devices cannot magically sync across floodwaters without an active physical or radio link. EDITH never makes false claims of peer-to-peer miracles.</a:t>
            </a:r>
          </a:p>
        </p:txBody>
      </p:sp>
      <p:sp>
        <p:nvSpPr>
          <p:cNvPr id="19" name="Rounded Rectangle 18"/>
          <p:cNvSpPr/>
          <p:nvPr/>
        </p:nvSpPr>
        <p:spPr>
          <a:xfrm>
            <a:off x="4389120" y="3931920"/>
            <a:ext cx="3383280" cy="210312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4096512"/>
            <a:ext cx="3054096" cy="1773936"/>
          </a:xfrm>
          <a:prstGeom prst="rect">
            <a:avLst/>
          </a:prstGeom>
          <a:noFill/>
        </p:spPr>
        <p:txBody>
          <a:bodyPr wrap="square">
            <a:spAutoFit/>
          </a:bodyPr>
          <a:lstStyle/>
          <a:p>
            <a:pPr>
              <a:defRPr b="1" sz="1200">
                <a:solidFill>
                  <a:srgbClr val="FFA44C"/>
                </a:solidFill>
              </a:defRPr>
            </a:pPr>
            <a:r>
              <a:t>Truth Transparency</a:t>
            </a:r>
          </a:p>
          <a:p>
            <a:pPr>
              <a:spcBef>
                <a:spcPts val="600"/>
              </a:spcBef>
              <a:defRPr sz="1000">
                <a:solidFill>
                  <a:srgbClr val="A3B4CC"/>
                </a:solidFill>
              </a:defRPr>
            </a:pPr>
            <a:r>
              <a:t>A locally-saved draft is never presented to the user as a server-confirmed record. Un-synced requests carry a distinct visual warning and temporary UUID.</a:t>
            </a:r>
          </a:p>
        </p:txBody>
      </p:sp>
      <p:sp>
        <p:nvSpPr>
          <p:cNvPr id="21" name="Rounded Rectangle 20"/>
          <p:cNvSpPr/>
          <p:nvPr/>
        </p:nvSpPr>
        <p:spPr>
          <a:xfrm>
            <a:off x="8046720" y="3931920"/>
            <a:ext cx="3383280" cy="210312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1312" y="4096512"/>
            <a:ext cx="3054096" cy="1773936"/>
          </a:xfrm>
          <a:prstGeom prst="rect">
            <a:avLst/>
          </a:prstGeom>
          <a:noFill/>
        </p:spPr>
        <p:txBody>
          <a:bodyPr wrap="square">
            <a:spAutoFit/>
          </a:bodyPr>
          <a:lstStyle/>
          <a:p>
            <a:pPr>
              <a:defRPr b="1" sz="1200">
                <a:solidFill>
                  <a:srgbClr val="52DCA4"/>
                </a:solidFill>
              </a:defRPr>
            </a:pPr>
            <a:r>
              <a:t>Idempotency Protection</a:t>
            </a:r>
          </a:p>
          <a:p>
            <a:pPr>
              <a:spcBef>
                <a:spcPts val="600"/>
              </a:spcBef>
              <a:defRPr sz="1000">
                <a:solidFill>
                  <a:srgbClr val="A3B4CC"/>
                </a:solidFill>
              </a:defRPr>
            </a:pPr>
            <a:r>
              <a:t>Repeated sync retries on flickering 2G links cannot create duplicate tickets or double-allocate resources. Server idempotency keys enforce safe replay.</a:t>
            </a:r>
          </a:p>
        </p:txBody>
      </p:sp>
      <p:sp>
        <p:nvSpPr>
          <p:cNvPr id="23" name="TextBox 22"/>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B: OFFLINE RESILIENCE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C · SYSTEM ARCHITECTURE</a:t>
            </a:r>
          </a:p>
          <a:p>
            <a:pPr>
              <a:spcBef>
                <a:spcPts val="300"/>
              </a:spcBef>
              <a:defRPr sz="2000" b="1">
                <a:solidFill>
                  <a:srgbClr val="F4F8FF"/>
                </a:solidFill>
                <a:latin typeface="Arial"/>
              </a:defRPr>
            </a:pPr>
            <a:r>
              <a:t>Three-Tier Modular Architecture for Resilient Coordination</a:t>
            </a:r>
          </a:p>
          <a:p>
            <a:pPr>
              <a:spcBef>
                <a:spcPts val="200"/>
              </a:spcBef>
              <a:defRPr sz="1100">
                <a:solidFill>
                  <a:srgbClr val="A3B4CC"/>
                </a:solidFill>
                <a:latin typeface="Arial"/>
              </a:defRPr>
            </a:pPr>
            <a:r>
              <a:t>Strict separation of concerns enforcing human authority, offline survival, and ACID truth.</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08 / 16</a:t>
            </a:r>
          </a:p>
        </p:txBody>
      </p:sp>
      <p:sp>
        <p:nvSpPr>
          <p:cNvPr id="5" name="Rounded Rectangle 4"/>
          <p:cNvSpPr/>
          <p:nvPr/>
        </p:nvSpPr>
        <p:spPr>
          <a:xfrm>
            <a:off x="731520" y="1645920"/>
            <a:ext cx="3383280" cy="32918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2926080"/>
          </a:xfrm>
          <a:prstGeom prst="rect">
            <a:avLst/>
          </a:prstGeom>
          <a:noFill/>
        </p:spPr>
        <p:txBody>
          <a:bodyPr wrap="square">
            <a:spAutoFit/>
          </a:bodyPr>
          <a:lstStyle/>
          <a:p>
            <a:pPr>
              <a:defRPr b="1" sz="1400">
                <a:solidFill>
                  <a:srgbClr val="2BDCE0"/>
                </a:solidFill>
              </a:defRPr>
            </a:pPr>
            <a:r>
              <a:t>TIER 1 · CLIENT PWA</a:t>
            </a:r>
          </a:p>
          <a:p>
            <a:pPr>
              <a:spcBef>
                <a:spcPts val="800"/>
              </a:spcBef>
              <a:defRPr sz="1050">
                <a:solidFill>
                  <a:srgbClr val="F4F8FF"/>
                </a:solidFill>
              </a:defRPr>
            </a:pPr>
            <a:r>
              <a:t>Vanilla HTML5 + CSS3 + Modern ES6+ JS</a:t>
            </a:r>
            <a:br/>
            <a:br/>
            <a:r>
              <a:t>• Service Worker: Application shell caching &amp; offline fallback</a:t>
            </a:r>
            <a:br/>
            <a:r>
              <a:t>• IndexedDB: Outbox queue for mutations &amp; read cache</a:t>
            </a:r>
            <a:br/>
            <a:r>
              <a:t>• Sync Engine: Background retry with exponential backoff</a:t>
            </a:r>
            <a:br/>
            <a:r>
              <a:t>• Target: &lt;500ms initial load on 2G connections</a:t>
            </a:r>
          </a:p>
        </p:txBody>
      </p:sp>
      <p:sp>
        <p:nvSpPr>
          <p:cNvPr id="7" name="Rounded Rectangle 6"/>
          <p:cNvSpPr/>
          <p:nvPr/>
        </p:nvSpPr>
        <p:spPr>
          <a:xfrm>
            <a:off x="4389120" y="1645920"/>
            <a:ext cx="3383280" cy="329184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2926080"/>
          </a:xfrm>
          <a:prstGeom prst="rect">
            <a:avLst/>
          </a:prstGeom>
          <a:noFill/>
        </p:spPr>
        <p:txBody>
          <a:bodyPr wrap="square">
            <a:spAutoFit/>
          </a:bodyPr>
          <a:lstStyle/>
          <a:p>
            <a:pPr>
              <a:defRPr b="1" sz="1400">
                <a:solidFill>
                  <a:srgbClr val="4C91FF"/>
                </a:solidFill>
              </a:defRPr>
            </a:pPr>
            <a:r>
              <a:t>TIER 2 · API SERVICES</a:t>
            </a:r>
          </a:p>
          <a:p>
            <a:pPr>
              <a:spcBef>
                <a:spcPts val="800"/>
              </a:spcBef>
              <a:defRPr sz="1050">
                <a:solidFill>
                  <a:srgbClr val="F4F8FF"/>
                </a:solidFill>
              </a:defRPr>
            </a:pPr>
            <a:r>
              <a:t>FastAPI (v0.115+) Modular Monolith</a:t>
            </a:r>
            <a:br/>
            <a:br/>
            <a:r>
              <a:t>• Modules: Auth (JWT/RBAC), Requests, Offers, Allocations, Sync</a:t>
            </a:r>
            <a:br/>
            <a:r>
              <a:t>• Pydantic v2: Strict contract validation on offline payloads</a:t>
            </a:r>
            <a:br/>
            <a:r>
              <a:t>• Idempotency Guard: Deduplication middleware via UUID keys</a:t>
            </a:r>
            <a:br/>
            <a:r>
              <a:t>• Performance: Asynchronous non-blocking event loop</a:t>
            </a:r>
          </a:p>
        </p:txBody>
      </p:sp>
      <p:sp>
        <p:nvSpPr>
          <p:cNvPr id="9" name="Rounded Rectangle 8"/>
          <p:cNvSpPr/>
          <p:nvPr/>
        </p:nvSpPr>
        <p:spPr>
          <a:xfrm>
            <a:off x="8046720" y="1645920"/>
            <a:ext cx="3383280" cy="329184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2926080"/>
          </a:xfrm>
          <a:prstGeom prst="rect">
            <a:avLst/>
          </a:prstGeom>
          <a:noFill/>
        </p:spPr>
        <p:txBody>
          <a:bodyPr wrap="square">
            <a:spAutoFit/>
          </a:bodyPr>
          <a:lstStyle/>
          <a:p>
            <a:pPr>
              <a:defRPr b="1" sz="1400">
                <a:solidFill>
                  <a:srgbClr val="52DCA4"/>
                </a:solidFill>
              </a:defRPr>
            </a:pPr>
            <a:r>
              <a:t>TIER 3 · DATA STORE</a:t>
            </a:r>
          </a:p>
          <a:p>
            <a:pPr>
              <a:spcBef>
                <a:spcPts val="800"/>
              </a:spcBef>
              <a:defRPr sz="1050">
                <a:solidFill>
                  <a:srgbClr val="F4F8FF"/>
                </a:solidFill>
              </a:defRPr>
            </a:pPr>
            <a:r>
              <a:t>PostgreSQL 16 (Dockerized)</a:t>
            </a:r>
            <a:br/>
            <a:br/>
            <a:r>
              <a:t>• ACID Guarantees: Authoritative truth with relational schema</a:t>
            </a:r>
            <a:br/>
            <a:r>
              <a:t>• Row-Level Locks: SELECT ... FOR UPDATE on allocations</a:t>
            </a:r>
            <a:br/>
            <a:r>
              <a:t>• Append-Only Audit Log: Immutable table logging all diffs</a:t>
            </a:r>
            <a:br/>
            <a:r>
              <a:t>• Deployment: Single-container reproducible image</a:t>
            </a:r>
          </a:p>
        </p:txBody>
      </p:sp>
      <p:sp>
        <p:nvSpPr>
          <p:cNvPr id="11" name="Rounded Rectangle 10"/>
          <p:cNvSpPr/>
          <p:nvPr/>
        </p:nvSpPr>
        <p:spPr>
          <a:xfrm>
            <a:off x="731520" y="5120640"/>
            <a:ext cx="10728655" cy="100584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66360"/>
            <a:ext cx="10362895" cy="914400"/>
          </a:xfrm>
          <a:prstGeom prst="rect">
            <a:avLst/>
          </a:prstGeom>
          <a:noFill/>
        </p:spPr>
        <p:txBody>
          <a:bodyPr wrap="square">
            <a:spAutoFit/>
          </a:bodyPr>
          <a:lstStyle/>
          <a:p>
            <a:pPr>
              <a:defRPr b="1" sz="1000">
                <a:solidFill>
                  <a:srgbClr val="FFA44C"/>
                </a:solidFill>
              </a:defRPr>
            </a:pPr>
            <a:r>
              <a:t>AUXILIARY INTEGRATION: OPTIONAL ASSISTIVE AI SCOPE</a:t>
            </a:r>
          </a:p>
          <a:p>
            <a:pPr>
              <a:spcBef>
                <a:spcPts val="300"/>
              </a:spcBef>
              <a:defRPr sz="950">
                <a:solidFill>
                  <a:srgbClr val="F4F8FF"/>
                </a:solidFill>
              </a:defRPr>
            </a:pPr>
            <a:r>
              <a:t>External LLM APIs strictly limited to assistive tasks: audio transcription, structured request extraction, and triage summaries. Zero autonomous decision power; fail-safe graceful degradation if offline.</a:t>
            </a:r>
          </a:p>
        </p:txBody>
      </p:sp>
      <p:sp>
        <p:nvSpPr>
          <p:cNvPr id="13" name="TextBox 12"/>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C: SYSTEM ARCHITECTURE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C · TECHNOLOGY MATRIX</a:t>
            </a:r>
          </a:p>
          <a:p>
            <a:pPr>
              <a:spcBef>
                <a:spcPts val="300"/>
              </a:spcBef>
              <a:defRPr sz="2000" b="1">
                <a:solidFill>
                  <a:srgbClr val="F4F8FF"/>
                </a:solidFill>
                <a:latin typeface="Arial"/>
              </a:defRPr>
            </a:pPr>
            <a:r>
              <a:t>Deliberate Engineering Choices: Built for Field Feasibility</a:t>
            </a:r>
          </a:p>
          <a:p>
            <a:pPr>
              <a:spcBef>
                <a:spcPts val="200"/>
              </a:spcBef>
              <a:defRPr sz="1100">
                <a:solidFill>
                  <a:srgbClr val="A3B4CC"/>
                </a:solidFill>
                <a:latin typeface="Arial"/>
              </a:defRPr>
            </a:pPr>
            <a:r>
              <a:t>Every technology selected for minimal resource footprint, high resilience, and rapid deployment.</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09 / 16</a:t>
            </a:r>
          </a:p>
        </p:txBody>
      </p:sp>
      <p:graphicFrame>
        <p:nvGraphicFramePr>
          <p:cNvPr id="5" name="Table 4"/>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011680"/>
                <a:gridCol w="2926080"/>
                <a:gridCol w="5790895"/>
              </a:tblGrid>
              <a:tr h="487680">
                <a:tc>
                  <a:txBody>
                    <a:bodyPr/>
                    <a:lstStyle/>
                    <a:p>
                      <a:pPr>
                        <a:defRPr b="1" sz="1000">
                          <a:solidFill>
                            <a:srgbClr val="2BDCE0"/>
                          </a:solidFill>
                        </a:defRPr>
                      </a:pPr>
                      <a:r>
                        <a:t>Architectural Layer</a:t>
                      </a:r>
                    </a:p>
                  </a:txBody>
                  <a:tcPr>
                    <a:solidFill>
                      <a:srgbClr val="111D33"/>
                    </a:solidFill>
                  </a:tcPr>
                </a:tc>
                <a:tc>
                  <a:txBody>
                    <a:bodyPr/>
                    <a:lstStyle/>
                    <a:p>
                      <a:pPr>
                        <a:defRPr b="1" sz="1000">
                          <a:solidFill>
                            <a:srgbClr val="2BDCE0"/>
                          </a:solidFill>
                        </a:defRPr>
                      </a:pPr>
                      <a:r>
                        <a:t>Selected Technology</a:t>
                      </a:r>
                    </a:p>
                  </a:txBody>
                  <a:tcPr>
                    <a:solidFill>
                      <a:srgbClr val="111D33"/>
                    </a:solidFill>
                  </a:tcPr>
                </a:tc>
                <a:tc>
                  <a:txBody>
                    <a:bodyPr/>
                    <a:lstStyle/>
                    <a:p>
                      <a:pPr>
                        <a:defRPr b="1" sz="1000">
                          <a:solidFill>
                            <a:srgbClr val="2BDCE0"/>
                          </a:solidFill>
                        </a:defRPr>
                      </a:pPr>
                      <a:r>
                        <a:t>Operational Justification &amp; Field Fit</a:t>
                      </a:r>
                    </a:p>
                  </a:txBody>
                  <a:tcPr>
                    <a:solidFill>
                      <a:srgbClr val="111D33"/>
                    </a:solidFill>
                  </a:tcPr>
                </a:tc>
              </a:tr>
              <a:tr h="487680">
                <a:tc>
                  <a:txBody>
                    <a:bodyPr/>
                    <a:lstStyle/>
                    <a:p>
                      <a:pPr>
                        <a:defRPr sz="950" b="1">
                          <a:solidFill>
                            <a:srgbClr val="F4F8FF"/>
                          </a:solidFill>
                        </a:defRPr>
                      </a:pPr>
                      <a:r>
                        <a:t>Frontend Interface</a:t>
                      </a:r>
                    </a:p>
                  </a:txBody>
                  <a:tcPr>
                    <a:solidFill>
                      <a:srgbClr val="0E182B"/>
                    </a:solidFill>
                  </a:tcPr>
                </a:tc>
                <a:tc>
                  <a:txBody>
                    <a:bodyPr/>
                    <a:lstStyle/>
                    <a:p>
                      <a:pPr>
                        <a:defRPr sz="950" b="1">
                          <a:solidFill>
                            <a:srgbClr val="2BDCE0"/>
                          </a:solidFill>
                        </a:defRPr>
                      </a:pPr>
                      <a:r>
                        <a:t>Vanilla HTML5, CSS3, Modern JS</a:t>
                      </a:r>
                    </a:p>
                  </a:txBody>
                  <a:tcPr>
                    <a:solidFill>
                      <a:srgbClr val="0E182B"/>
                    </a:solidFill>
                  </a:tcPr>
                </a:tc>
                <a:tc>
                  <a:txBody>
                    <a:bodyPr/>
                    <a:lstStyle/>
                    <a:p>
                      <a:pPr>
                        <a:defRPr sz="950">
                          <a:solidFill>
                            <a:srgbClr val="A3B4CC"/>
                          </a:solidFill>
                        </a:defRPr>
                      </a:pPr>
                      <a:r>
                        <a:t>Zero framework compilation overhead; instant load even on budget smartphones.</a:t>
                      </a:r>
                    </a:p>
                  </a:txBody>
                  <a:tcPr>
                    <a:solidFill>
                      <a:srgbClr val="0E182B"/>
                    </a:solidFill>
                  </a:tcPr>
                </a:tc>
              </a:tr>
              <a:tr h="487680">
                <a:tc>
                  <a:txBody>
                    <a:bodyPr/>
                    <a:lstStyle/>
                    <a:p>
                      <a:pPr>
                        <a:defRPr sz="950" b="1">
                          <a:solidFill>
                            <a:srgbClr val="F4F8FF"/>
                          </a:solidFill>
                        </a:defRPr>
                      </a:pPr>
                      <a:r>
                        <a:t>Offline Shell</a:t>
                      </a:r>
                    </a:p>
                  </a:txBody>
                  <a:tcPr>
                    <a:solidFill>
                      <a:srgbClr val="111D33"/>
                    </a:solidFill>
                  </a:tcPr>
                </a:tc>
                <a:tc>
                  <a:txBody>
                    <a:bodyPr/>
                    <a:lstStyle/>
                    <a:p>
                      <a:pPr>
                        <a:defRPr sz="950" b="1">
                          <a:solidFill>
                            <a:srgbClr val="2BDCE0"/>
                          </a:solidFill>
                        </a:defRPr>
                      </a:pPr>
                      <a:r>
                        <a:t>Service Worker &amp; Cache API</a:t>
                      </a:r>
                    </a:p>
                  </a:txBody>
                  <a:tcPr>
                    <a:solidFill>
                      <a:srgbClr val="111D33"/>
                    </a:solidFill>
                  </a:tcPr>
                </a:tc>
                <a:tc>
                  <a:txBody>
                    <a:bodyPr/>
                    <a:lstStyle/>
                    <a:p>
                      <a:pPr>
                        <a:defRPr sz="950">
                          <a:solidFill>
                            <a:srgbClr val="A3B4CC"/>
                          </a:solidFill>
                        </a:defRPr>
                      </a:pPr>
                      <a:r>
                        <a:t>Enables offline launching, home-screen installation without app store friction.</a:t>
                      </a:r>
                    </a:p>
                  </a:txBody>
                  <a:tcPr>
                    <a:solidFill>
                      <a:srgbClr val="111D33"/>
                    </a:solidFill>
                  </a:tcPr>
                </a:tc>
              </a:tr>
              <a:tr h="487680">
                <a:tc>
                  <a:txBody>
                    <a:bodyPr/>
                    <a:lstStyle/>
                    <a:p>
                      <a:pPr>
                        <a:defRPr sz="950" b="1">
                          <a:solidFill>
                            <a:srgbClr val="F4F8FF"/>
                          </a:solidFill>
                        </a:defRPr>
                      </a:pPr>
                      <a:r>
                        <a:t>Client Persistence</a:t>
                      </a:r>
                    </a:p>
                  </a:txBody>
                  <a:tcPr>
                    <a:solidFill>
                      <a:srgbClr val="0E182B"/>
                    </a:solidFill>
                  </a:tcPr>
                </a:tc>
                <a:tc>
                  <a:txBody>
                    <a:bodyPr/>
                    <a:lstStyle/>
                    <a:p>
                      <a:pPr>
                        <a:defRPr sz="950" b="1">
                          <a:solidFill>
                            <a:srgbClr val="2BDCE0"/>
                          </a:solidFill>
                        </a:defRPr>
                      </a:pPr>
                      <a:r>
                        <a:t>IndexedDB (Native Browser DB)</a:t>
                      </a:r>
                    </a:p>
                  </a:txBody>
                  <a:tcPr>
                    <a:solidFill>
                      <a:srgbClr val="0E182B"/>
                    </a:solidFill>
                  </a:tcPr>
                </a:tc>
                <a:tc>
                  <a:txBody>
                    <a:bodyPr/>
                    <a:lstStyle/>
                    <a:p>
                      <a:pPr>
                        <a:defRPr sz="950">
                          <a:solidFill>
                            <a:srgbClr val="A3B4CC"/>
                          </a:solidFill>
                        </a:defRPr>
                      </a:pPr>
                      <a:r>
                        <a:t>Structured local database for outbox queue and read cache; survives browser reboots.</a:t>
                      </a:r>
                    </a:p>
                  </a:txBody>
                  <a:tcPr>
                    <a:solidFill>
                      <a:srgbClr val="0E182B"/>
                    </a:solidFill>
                  </a:tcPr>
                </a:tc>
              </a:tr>
              <a:tr h="487680">
                <a:tc>
                  <a:txBody>
                    <a:bodyPr/>
                    <a:lstStyle/>
                    <a:p>
                      <a:pPr>
                        <a:defRPr sz="950" b="1">
                          <a:solidFill>
                            <a:srgbClr val="F4F8FF"/>
                          </a:solidFill>
                        </a:defRPr>
                      </a:pPr>
                      <a:r>
                        <a:t>Backend Framework</a:t>
                      </a:r>
                    </a:p>
                  </a:txBody>
                  <a:tcPr>
                    <a:solidFill>
                      <a:srgbClr val="111D33"/>
                    </a:solidFill>
                  </a:tcPr>
                </a:tc>
                <a:tc>
                  <a:txBody>
                    <a:bodyPr/>
                    <a:lstStyle/>
                    <a:p>
                      <a:pPr>
                        <a:defRPr sz="950" b="1">
                          <a:solidFill>
                            <a:srgbClr val="4C91FF"/>
                          </a:solidFill>
                        </a:defRPr>
                      </a:pPr>
                      <a:r>
                        <a:t>Python FastAPI (v0.115+)</a:t>
                      </a:r>
                    </a:p>
                  </a:txBody>
                  <a:tcPr>
                    <a:solidFill>
                      <a:srgbClr val="111D33"/>
                    </a:solidFill>
                  </a:tcPr>
                </a:tc>
                <a:tc>
                  <a:txBody>
                    <a:bodyPr/>
                    <a:lstStyle/>
                    <a:p>
                      <a:pPr>
                        <a:defRPr sz="950">
                          <a:solidFill>
                            <a:srgbClr val="A3B4CC"/>
                          </a:solidFill>
                        </a:defRPr>
                      </a:pPr>
                      <a:r>
                        <a:t>Lightweight ASGI micro-framework with native async pipeline &amp; auto OpenAPI schema.</a:t>
                      </a:r>
                    </a:p>
                  </a:txBody>
                  <a:tcPr>
                    <a:solidFill>
                      <a:srgbClr val="111D33"/>
                    </a:solidFill>
                  </a:tcPr>
                </a:tc>
              </a:tr>
              <a:tr h="487680">
                <a:tc>
                  <a:txBody>
                    <a:bodyPr/>
                    <a:lstStyle/>
                    <a:p>
                      <a:pPr>
                        <a:defRPr sz="950" b="1">
                          <a:solidFill>
                            <a:srgbClr val="F4F8FF"/>
                          </a:solidFill>
                        </a:defRPr>
                      </a:pPr>
                      <a:r>
                        <a:t>Contract Validation</a:t>
                      </a:r>
                    </a:p>
                  </a:txBody>
                  <a:tcPr>
                    <a:solidFill>
                      <a:srgbClr val="0E182B"/>
                    </a:solidFill>
                  </a:tcPr>
                </a:tc>
                <a:tc>
                  <a:txBody>
                    <a:bodyPr/>
                    <a:lstStyle/>
                    <a:p>
                      <a:pPr>
                        <a:defRPr sz="950" b="1">
                          <a:solidFill>
                            <a:srgbClr val="4C91FF"/>
                          </a:solidFill>
                        </a:defRPr>
                      </a:pPr>
                      <a:r>
                        <a:t>Pydantic v2 (Rust Core)</a:t>
                      </a:r>
                    </a:p>
                  </a:txBody>
                  <a:tcPr>
                    <a:solidFill>
                      <a:srgbClr val="0E182B"/>
                    </a:solidFill>
                  </a:tcPr>
                </a:tc>
                <a:tc>
                  <a:txBody>
                    <a:bodyPr/>
                    <a:lstStyle/>
                    <a:p>
                      <a:pPr>
                        <a:defRPr sz="950">
                          <a:solidFill>
                            <a:srgbClr val="A3B4CC"/>
                          </a:solidFill>
                        </a:defRPr>
                      </a:pPr>
                      <a:r>
                        <a:t>High-speed data boundary validation catching corrupted offline payloads cleanly.</a:t>
                      </a:r>
                    </a:p>
                  </a:txBody>
                  <a:tcPr>
                    <a:solidFill>
                      <a:srgbClr val="0E182B"/>
                    </a:solidFill>
                  </a:tcPr>
                </a:tc>
              </a:tr>
              <a:tr h="487680">
                <a:tc>
                  <a:txBody>
                    <a:bodyPr/>
                    <a:lstStyle/>
                    <a:p>
                      <a:pPr>
                        <a:defRPr sz="950" b="1">
                          <a:solidFill>
                            <a:srgbClr val="F4F8FF"/>
                          </a:solidFill>
                        </a:defRPr>
                      </a:pPr>
                      <a:r>
                        <a:t>Data Access / ORM</a:t>
                      </a:r>
                    </a:p>
                  </a:txBody>
                  <a:tcPr>
                    <a:solidFill>
                      <a:srgbClr val="111D33"/>
                    </a:solidFill>
                  </a:tcPr>
                </a:tc>
                <a:tc>
                  <a:txBody>
                    <a:bodyPr/>
                    <a:lstStyle/>
                    <a:p>
                      <a:pPr>
                        <a:defRPr sz="950" b="1">
                          <a:solidFill>
                            <a:srgbClr val="4C91FF"/>
                          </a:solidFill>
                        </a:defRPr>
                      </a:pPr>
                      <a:r>
                        <a:t>SQLAlchemy 2.0 (Psycopg 3)</a:t>
                      </a:r>
                    </a:p>
                  </a:txBody>
                  <a:tcPr>
                    <a:solidFill>
                      <a:srgbClr val="111D33"/>
                    </a:solidFill>
                  </a:tcPr>
                </a:tc>
                <a:tc>
                  <a:txBody>
                    <a:bodyPr/>
                    <a:lstStyle/>
                    <a:p>
                      <a:pPr>
                        <a:defRPr sz="950">
                          <a:solidFill>
                            <a:srgbClr val="A3B4CC"/>
                          </a:solidFill>
                        </a:defRPr>
                      </a:pPr>
                      <a:r>
                        <a:t>Type-safe ORM with explicit transaction control and row-level locking support.</a:t>
                      </a:r>
                    </a:p>
                  </a:txBody>
                  <a:tcPr>
                    <a:solidFill>
                      <a:srgbClr val="111D33"/>
                    </a:solidFill>
                  </a:tcPr>
                </a:tc>
              </a:tr>
              <a:tr h="487680">
                <a:tc>
                  <a:txBody>
                    <a:bodyPr/>
                    <a:lstStyle/>
                    <a:p>
                      <a:pPr>
                        <a:defRPr sz="950" b="1">
                          <a:solidFill>
                            <a:srgbClr val="F4F8FF"/>
                          </a:solidFill>
                        </a:defRPr>
                      </a:pPr>
                      <a:r>
                        <a:t>Authoritative Store</a:t>
                      </a:r>
                    </a:p>
                  </a:txBody>
                  <a:tcPr>
                    <a:solidFill>
                      <a:srgbClr val="0E182B"/>
                    </a:solidFill>
                  </a:tcPr>
                </a:tc>
                <a:tc>
                  <a:txBody>
                    <a:bodyPr/>
                    <a:lstStyle/>
                    <a:p>
                      <a:pPr>
                        <a:defRPr sz="950" b="1">
                          <a:solidFill>
                            <a:srgbClr val="4C91FF"/>
                          </a:solidFill>
                        </a:defRPr>
                      </a:pPr>
                      <a:r>
                        <a:t>PostgreSQL 16 (Dockerized)</a:t>
                      </a:r>
                    </a:p>
                  </a:txBody>
                  <a:tcPr>
                    <a:solidFill>
                      <a:srgbClr val="0E182B"/>
                    </a:solidFill>
                  </a:tcPr>
                </a:tc>
                <a:tc>
                  <a:txBody>
                    <a:bodyPr/>
                    <a:lstStyle/>
                    <a:p>
                      <a:pPr>
                        <a:defRPr sz="950">
                          <a:solidFill>
                            <a:srgbClr val="A3B4CC"/>
                          </a:solidFill>
                        </a:defRPr>
                      </a:pPr>
                      <a:r>
                        <a:t>World-class ACID durability, proven concurrency control, and JSONB audit trails.</a:t>
                      </a:r>
                    </a:p>
                  </a:txBody>
                  <a:tcPr>
                    <a:solidFill>
                      <a:srgbClr val="0E182B"/>
                    </a:solidFill>
                  </a:tcPr>
                </a:tc>
              </a:tr>
              <a:tr h="487680">
                <a:tc>
                  <a:txBody>
                    <a:bodyPr/>
                    <a:lstStyle/>
                    <a:p>
                      <a:pPr>
                        <a:defRPr sz="950" b="1">
                          <a:solidFill>
                            <a:srgbClr val="F4F8FF"/>
                          </a:solidFill>
                        </a:defRPr>
                      </a:pPr>
                      <a:r>
                        <a:t>Testing &amp; QA</a:t>
                      </a:r>
                    </a:p>
                  </a:txBody>
                  <a:tcPr>
                    <a:solidFill>
                      <a:srgbClr val="111D33"/>
                    </a:solidFill>
                  </a:tcPr>
                </a:tc>
                <a:tc>
                  <a:txBody>
                    <a:bodyPr/>
                    <a:lstStyle/>
                    <a:p>
                      <a:pPr>
                        <a:defRPr sz="950" b="1">
                          <a:solidFill>
                            <a:srgbClr val="4C91FF"/>
                          </a:solidFill>
                        </a:defRPr>
                      </a:pPr>
                      <a:r>
                        <a:t>Pytest, Asyncio, Playwright</a:t>
                      </a:r>
                    </a:p>
                  </a:txBody>
                  <a:tcPr>
                    <a:solidFill>
                      <a:srgbClr val="111D33"/>
                    </a:solidFill>
                  </a:tcPr>
                </a:tc>
                <a:tc>
                  <a:txBody>
                    <a:bodyPr/>
                    <a:lstStyle/>
                    <a:p>
                      <a:pPr>
                        <a:defRPr sz="950">
                          <a:solidFill>
                            <a:srgbClr val="A3B4CC"/>
                          </a:solidFill>
                        </a:defRPr>
                      </a:pPr>
                      <a:r>
                        <a:t>Automated test suites covering concurrent allocations and offline sync replays.</a:t>
                      </a:r>
                    </a:p>
                  </a:txBody>
                  <a:tcPr>
                    <a:solidFill>
                      <a:srgbClr val="111D33"/>
                    </a:solidFill>
                  </a:tcPr>
                </a:tc>
              </a:tr>
            </a:tbl>
          </a:graphicData>
        </a:graphic>
      </p:graphicFrame>
      <p:sp>
        <p:nvSpPr>
          <p:cNvPr id="6" name="TextBox 5"/>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C: TECHNOLOGY MATRIX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C · INTEGRITY &amp; SECURITY</a:t>
            </a:r>
          </a:p>
          <a:p>
            <a:pPr>
              <a:spcBef>
                <a:spcPts val="300"/>
              </a:spcBef>
              <a:defRPr sz="2000" b="1">
                <a:solidFill>
                  <a:srgbClr val="F4F8FF"/>
                </a:solidFill>
                <a:latin typeface="Arial"/>
              </a:defRPr>
            </a:pPr>
            <a:r>
              <a:t>Data Integrity, Security &amp; Concurrency Controls</a:t>
            </a:r>
          </a:p>
          <a:p>
            <a:pPr>
              <a:spcBef>
                <a:spcPts val="200"/>
              </a:spcBef>
              <a:defRPr sz="1100">
                <a:solidFill>
                  <a:srgbClr val="A3B4CC"/>
                </a:solidFill>
                <a:latin typeface="Arial"/>
              </a:defRPr>
            </a:pPr>
            <a:r>
              <a:t>Engineering safeguards that eliminate race conditions, unauthorized actions, and data corruption.</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10 / 16</a:t>
            </a:r>
          </a:p>
        </p:txBody>
      </p:sp>
      <p:sp>
        <p:nvSpPr>
          <p:cNvPr id="5" name="Rounded Rectangle 4"/>
          <p:cNvSpPr/>
          <p:nvPr/>
        </p:nvSpPr>
        <p:spPr>
          <a:xfrm>
            <a:off x="731520" y="1645920"/>
            <a:ext cx="5212080" cy="201168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10512"/>
            <a:ext cx="4846320" cy="1682496"/>
          </a:xfrm>
          <a:prstGeom prst="rect">
            <a:avLst/>
          </a:prstGeom>
          <a:noFill/>
        </p:spPr>
        <p:txBody>
          <a:bodyPr wrap="square">
            <a:spAutoFit/>
          </a:bodyPr>
          <a:lstStyle/>
          <a:p>
            <a:pPr>
              <a:defRPr b="1" sz="1200">
                <a:solidFill>
                  <a:srgbClr val="2BDCE0"/>
                </a:solidFill>
              </a:defRPr>
            </a:pPr>
            <a:r>
              <a:t>1. Role-Based Access Control (RBAC)</a:t>
            </a:r>
          </a:p>
          <a:p>
            <a:pPr>
              <a:spcBef>
                <a:spcPts val="400"/>
              </a:spcBef>
              <a:defRPr sz="950">
                <a:solidFill>
                  <a:srgbClr val="F4F8FF"/>
                </a:solidFill>
              </a:defRPr>
            </a:pPr>
            <a:r>
              <a:t>• Hospital / Camp Users: Scoped strictly to drafting requests &amp; offers for their facility.</a:t>
            </a:r>
            <a:br/>
            <a:r>
              <a:t>• ICC Coordinators: Global zone authority to acknowledge, triage, allocate, and close.</a:t>
            </a:r>
            <a:br/>
            <a:r>
              <a:t>• Logistics Drivers: Scoped strictly to updating transit status and logging drop-offs.</a:t>
            </a:r>
          </a:p>
        </p:txBody>
      </p:sp>
      <p:sp>
        <p:nvSpPr>
          <p:cNvPr id="7" name="Rounded Rectangle 6"/>
          <p:cNvSpPr/>
          <p:nvPr/>
        </p:nvSpPr>
        <p:spPr>
          <a:xfrm>
            <a:off x="6217920" y="1645920"/>
            <a:ext cx="5212080" cy="201168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10512"/>
            <a:ext cx="4846320" cy="1682496"/>
          </a:xfrm>
          <a:prstGeom prst="rect">
            <a:avLst/>
          </a:prstGeom>
          <a:noFill/>
        </p:spPr>
        <p:txBody>
          <a:bodyPr wrap="square">
            <a:spAutoFit/>
          </a:bodyPr>
          <a:lstStyle/>
          <a:p>
            <a:pPr>
              <a:defRPr b="1" sz="1200">
                <a:solidFill>
                  <a:srgbClr val="52DCA4"/>
                </a:solidFill>
              </a:defRPr>
            </a:pPr>
            <a:r>
              <a:t>2. Atomic Allocation &amp; Row Locking</a:t>
            </a:r>
          </a:p>
          <a:p>
            <a:pPr>
              <a:spcBef>
                <a:spcPts val="400"/>
              </a:spcBef>
              <a:defRPr sz="950">
                <a:solidFill>
                  <a:srgbClr val="F4F8FF"/>
                </a:solidFill>
              </a:defRPr>
            </a:pPr>
            <a:r>
              <a:t>• Problem: Two coordinators simultaneously assign the last 10 oxygen cylinders.</a:t>
            </a:r>
            <a:br/>
            <a:r>
              <a:t>• Solution: SELECT quantity_available FROM offers WHERE id = :id FOR UPDATE</a:t>
            </a:r>
            <a:br/>
            <a:r>
              <a:t>• Result: Transaction A locks &amp; commits; Transaction B detects 0 and rejects safely.</a:t>
            </a:r>
          </a:p>
        </p:txBody>
      </p:sp>
      <p:sp>
        <p:nvSpPr>
          <p:cNvPr id="9" name="Rounded Rectangle 8"/>
          <p:cNvSpPr/>
          <p:nvPr/>
        </p:nvSpPr>
        <p:spPr>
          <a:xfrm>
            <a:off x="731520" y="3931920"/>
            <a:ext cx="5212080" cy="201168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96512"/>
            <a:ext cx="4846320" cy="1682496"/>
          </a:xfrm>
          <a:prstGeom prst="rect">
            <a:avLst/>
          </a:prstGeom>
          <a:noFill/>
        </p:spPr>
        <p:txBody>
          <a:bodyPr wrap="square">
            <a:spAutoFit/>
          </a:bodyPr>
          <a:lstStyle/>
          <a:p>
            <a:pPr>
              <a:defRPr b="1" sz="1200">
                <a:solidFill>
                  <a:srgbClr val="FFA44C"/>
                </a:solidFill>
              </a:defRPr>
            </a:pPr>
            <a:r>
              <a:t>3. Idempotency &amp; Duplicate Prevention</a:t>
            </a:r>
          </a:p>
          <a:p>
            <a:pPr>
              <a:spcBef>
                <a:spcPts val="400"/>
              </a:spcBef>
              <a:defRPr sz="950">
                <a:solidFill>
                  <a:srgbClr val="F4F8FF"/>
                </a:solidFill>
              </a:defRPr>
            </a:pPr>
            <a:r>
              <a:t>• Offline mutations attach a client-generated UUID v4 idempotency key.</a:t>
            </a:r>
            <a:br/>
            <a:r>
              <a:t>• Server checks processed_operations table before execution.</a:t>
            </a:r>
            <a:br/>
            <a:r>
              <a:t>• Network retries on flickering links return cached results without double records.</a:t>
            </a:r>
          </a:p>
        </p:txBody>
      </p:sp>
      <p:sp>
        <p:nvSpPr>
          <p:cNvPr id="11" name="Rounded Rectangle 10"/>
          <p:cNvSpPr/>
          <p:nvPr/>
        </p:nvSpPr>
        <p:spPr>
          <a:xfrm>
            <a:off x="6217920" y="3931920"/>
            <a:ext cx="5212080" cy="2011680"/>
          </a:xfrm>
          <a:prstGeom prst="roundRect">
            <a:avLst/>
          </a:prstGeom>
          <a:solidFill>
            <a:srgbClr val="111D33"/>
          </a:solidFill>
          <a:ln w="12700">
            <a:solidFill>
              <a:srgbClr val="FF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96512"/>
            <a:ext cx="4846320" cy="1682496"/>
          </a:xfrm>
          <a:prstGeom prst="rect">
            <a:avLst/>
          </a:prstGeom>
          <a:noFill/>
        </p:spPr>
        <p:txBody>
          <a:bodyPr wrap="square">
            <a:spAutoFit/>
          </a:bodyPr>
          <a:lstStyle/>
          <a:p>
            <a:pPr>
              <a:defRPr b="1" sz="1200">
                <a:solidFill>
                  <a:srgbClr val="FF6878"/>
                </a:solidFill>
              </a:defRPr>
            </a:pPr>
            <a:r>
              <a:t>4. Two-Phase Fulfilment Verification</a:t>
            </a:r>
          </a:p>
          <a:p>
            <a:pPr>
              <a:spcBef>
                <a:spcPts val="400"/>
              </a:spcBef>
              <a:defRPr sz="950">
                <a:solidFill>
                  <a:srgbClr val="F4F8FF"/>
                </a:solidFill>
              </a:defRPr>
            </a:pPr>
            <a:r>
              <a:t>• Driver drop-off logs physical arrival with timestamp at the camp gate.</a:t>
            </a:r>
            <a:br/>
            <a:r>
              <a:t>• Resolution is NOT triggered: Status becomes DELIVERED_PENDING_VERIFICATION.</a:t>
            </a:r>
            <a:br/>
            <a:r>
              <a:t>• The receiving doctor must log in, inspect cargo, and verify physical count.</a:t>
            </a:r>
          </a:p>
        </p:txBody>
      </p:sp>
      <p:sp>
        <p:nvSpPr>
          <p:cNvPr id="13" name="TextBox 12"/>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C: DATA INTEGRITY &amp; SECURITY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D · INTERFACE MOCKUP (ILLUSTRATIVE DEMO DATA)</a:t>
            </a:r>
          </a:p>
          <a:p>
            <a:pPr>
              <a:spcBef>
                <a:spcPts val="300"/>
              </a:spcBef>
              <a:defRPr sz="2000" b="1">
                <a:solidFill>
                  <a:srgbClr val="F4F8FF"/>
                </a:solidFill>
                <a:latin typeface="Arial"/>
              </a:defRPr>
            </a:pPr>
            <a:r>
              <a:t>Command-Centre Dashboard: Real-Time Operational Triage</a:t>
            </a:r>
          </a:p>
          <a:p>
            <a:pPr>
              <a:spcBef>
                <a:spcPts val="200"/>
              </a:spcBef>
              <a:defRPr sz="1100">
                <a:solidFill>
                  <a:srgbClr val="A3B4CC"/>
                </a:solidFill>
                <a:latin typeface="Arial"/>
              </a:defRPr>
            </a:pPr>
            <a:r>
              <a:t>High-density, low-cognitive-load interface designed for disaster coordinators.</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11 / 16</a:t>
            </a:r>
          </a:p>
        </p:txBody>
      </p:sp>
      <p:sp>
        <p:nvSpPr>
          <p:cNvPr id="5" name="Rounded Rectangle 4"/>
          <p:cNvSpPr/>
          <p:nvPr/>
        </p:nvSpPr>
        <p:spPr>
          <a:xfrm>
            <a:off x="731520" y="1554480"/>
            <a:ext cx="10728655" cy="50292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10362895" cy="411480"/>
          </a:xfrm>
          <a:prstGeom prst="rect">
            <a:avLst/>
          </a:prstGeom>
          <a:noFill/>
        </p:spPr>
        <p:txBody>
          <a:bodyPr wrap="none">
            <a:spAutoFit/>
          </a:bodyPr>
          <a:lstStyle/>
          <a:p>
            <a:pPr>
              <a:defRPr sz="950" b="1">
                <a:solidFill>
                  <a:srgbClr val="F4F8FF"/>
                </a:solidFill>
              </a:defRPr>
            </a:pPr>
            <a:r>
              <a:t>INCIDENT COMMAND CENTRE · SECTOR 4 DISASTER DESK   |   ● NETWORK: CONNECTED   |   LAST SYNC: 3s AGO   |   SIMULATED TEST DATA</a:t>
            </a:r>
          </a:p>
        </p:txBody>
      </p:sp>
      <p:sp>
        <p:nvSpPr>
          <p:cNvPr id="7" name="Rounded Rectangle 6"/>
          <p:cNvSpPr/>
          <p:nvPr/>
        </p:nvSpPr>
        <p:spPr>
          <a:xfrm>
            <a:off x="731520" y="2194560"/>
            <a:ext cx="2514600" cy="10058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86000"/>
            <a:ext cx="2240280" cy="822960"/>
          </a:xfrm>
          <a:prstGeom prst="rect">
            <a:avLst/>
          </a:prstGeom>
          <a:noFill/>
        </p:spPr>
        <p:txBody>
          <a:bodyPr wrap="square">
            <a:spAutoFit/>
          </a:bodyPr>
          <a:lstStyle/>
          <a:p>
            <a:pPr>
              <a:defRPr sz="850" b="1">
                <a:solidFill>
                  <a:srgbClr val="A3B4CC"/>
                </a:solidFill>
              </a:defRPr>
            </a:pPr>
            <a:r>
              <a:t>TOTAL OPEN REQUESTS</a:t>
            </a:r>
          </a:p>
          <a:p>
            <a:pPr>
              <a:defRPr sz="1800" b="1">
                <a:solidFill>
                  <a:srgbClr val="2BDCE0"/>
                </a:solidFill>
              </a:defRPr>
            </a:pPr>
            <a:r>
              <a:t>34</a:t>
            </a:r>
          </a:p>
          <a:p>
            <a:pPr>
              <a:defRPr sz="850">
                <a:solidFill>
                  <a:srgbClr val="F4F8FF"/>
                </a:solidFill>
              </a:defRPr>
            </a:pPr>
            <a:r>
              <a:t>8 Critical · 14 High · 12 Normal</a:t>
            </a:r>
          </a:p>
        </p:txBody>
      </p:sp>
      <p:sp>
        <p:nvSpPr>
          <p:cNvPr id="9" name="Rounded Rectangle 8"/>
          <p:cNvSpPr/>
          <p:nvPr/>
        </p:nvSpPr>
        <p:spPr>
          <a:xfrm>
            <a:off x="3474720" y="2194560"/>
            <a:ext cx="2514600" cy="1005840"/>
          </a:xfrm>
          <a:prstGeom prst="roundRect">
            <a:avLst/>
          </a:prstGeom>
          <a:solidFill>
            <a:srgbClr val="111D33"/>
          </a:solidFill>
          <a:ln w="12700">
            <a:solidFill>
              <a:srgbClr val="FF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2286000"/>
            <a:ext cx="2240280" cy="822960"/>
          </a:xfrm>
          <a:prstGeom prst="rect">
            <a:avLst/>
          </a:prstGeom>
          <a:noFill/>
        </p:spPr>
        <p:txBody>
          <a:bodyPr wrap="square">
            <a:spAutoFit/>
          </a:bodyPr>
          <a:lstStyle/>
          <a:p>
            <a:pPr>
              <a:defRPr sz="850" b="1">
                <a:solidFill>
                  <a:srgbClr val="A3B4CC"/>
                </a:solidFill>
              </a:defRPr>
            </a:pPr>
            <a:r>
              <a:t>UNACKNOWLEDGED NEEDS</a:t>
            </a:r>
          </a:p>
          <a:p>
            <a:pPr>
              <a:defRPr sz="1800" b="1">
                <a:solidFill>
                  <a:srgbClr val="FF6878"/>
                </a:solidFill>
              </a:defRPr>
            </a:pPr>
            <a:r>
              <a:t>3</a:t>
            </a:r>
          </a:p>
          <a:p>
            <a:pPr>
              <a:defRPr sz="850">
                <a:solidFill>
                  <a:srgbClr val="F4F8FF"/>
                </a:solidFill>
              </a:defRPr>
            </a:pPr>
            <a:r>
              <a:t>Immediate Triage Required</a:t>
            </a:r>
          </a:p>
        </p:txBody>
      </p:sp>
      <p:sp>
        <p:nvSpPr>
          <p:cNvPr id="11" name="Rounded Rectangle 10"/>
          <p:cNvSpPr/>
          <p:nvPr/>
        </p:nvSpPr>
        <p:spPr>
          <a:xfrm>
            <a:off x="6217920" y="2194560"/>
            <a:ext cx="2514600" cy="100584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86000"/>
            <a:ext cx="2240280" cy="822960"/>
          </a:xfrm>
          <a:prstGeom prst="rect">
            <a:avLst/>
          </a:prstGeom>
          <a:noFill/>
        </p:spPr>
        <p:txBody>
          <a:bodyPr wrap="square">
            <a:spAutoFit/>
          </a:bodyPr>
          <a:lstStyle/>
          <a:p>
            <a:pPr>
              <a:defRPr sz="850" b="1">
                <a:solidFill>
                  <a:srgbClr val="A3B4CC"/>
                </a:solidFill>
              </a:defRPr>
            </a:pPr>
            <a:r>
              <a:t>OFFERS PENDING SIGN-OFF</a:t>
            </a:r>
          </a:p>
          <a:p>
            <a:pPr>
              <a:defRPr sz="1800" b="1">
                <a:solidFill>
                  <a:srgbClr val="FFA44C"/>
                </a:solidFill>
              </a:defRPr>
            </a:pPr>
            <a:r>
              <a:t>6</a:t>
            </a:r>
          </a:p>
          <a:p>
            <a:pPr>
              <a:defRPr sz="850">
                <a:solidFill>
                  <a:srgbClr val="F4F8FF"/>
                </a:solidFill>
              </a:defRPr>
            </a:pPr>
            <a:r>
              <a:t>Matches Awaiting Allocation</a:t>
            </a:r>
          </a:p>
        </p:txBody>
      </p:sp>
      <p:sp>
        <p:nvSpPr>
          <p:cNvPr id="13" name="Rounded Rectangle 12"/>
          <p:cNvSpPr/>
          <p:nvPr/>
        </p:nvSpPr>
        <p:spPr>
          <a:xfrm>
            <a:off x="8961120" y="2194560"/>
            <a:ext cx="2514600" cy="100584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2286000"/>
            <a:ext cx="2240280" cy="822960"/>
          </a:xfrm>
          <a:prstGeom prst="rect">
            <a:avLst/>
          </a:prstGeom>
          <a:noFill/>
        </p:spPr>
        <p:txBody>
          <a:bodyPr wrap="square">
            <a:spAutoFit/>
          </a:bodyPr>
          <a:lstStyle/>
          <a:p>
            <a:pPr>
              <a:defRPr sz="850" b="1">
                <a:solidFill>
                  <a:srgbClr val="A3B4CC"/>
                </a:solidFill>
              </a:defRPr>
            </a:pPr>
            <a:r>
              <a:t>IN TRANSIT / ACTIVE FLEET</a:t>
            </a:r>
          </a:p>
          <a:p>
            <a:pPr>
              <a:defRPr sz="1800" b="1">
                <a:solidFill>
                  <a:srgbClr val="52DCA4"/>
                </a:solidFill>
              </a:defRPr>
            </a:pPr>
            <a:r>
              <a:t>12</a:t>
            </a:r>
          </a:p>
          <a:p>
            <a:pPr>
              <a:defRPr sz="850">
                <a:solidFill>
                  <a:srgbClr val="F4F8FF"/>
                </a:solidFill>
              </a:defRPr>
            </a:pPr>
            <a:r>
              <a:t>Logistics En Route</a:t>
            </a:r>
          </a:p>
        </p:txBody>
      </p:sp>
      <p:graphicFrame>
        <p:nvGraphicFramePr>
          <p:cNvPr id="15" name="Table 14"/>
          <p:cNvGraphicFramePr>
            <a:graphicFrameLocks noGrp="1"/>
          </p:cNvGraphicFramePr>
          <p:nvPr/>
        </p:nvGraphicFramePr>
        <p:xfrm>
          <a:off x="731520" y="3383280"/>
          <a:ext cx="6858000" cy="2651760"/>
        </p:xfrm>
        <a:graphic>
          <a:graphicData uri="http://schemas.openxmlformats.org/drawingml/2006/table">
            <a:tbl>
              <a:tblPr firstRow="1" bandRow="1">
                <a:tableStyleId>{5C22544A-7EE6-4342-B048-85BDC9FD1C3A}</a:tableStyleId>
              </a:tblPr>
              <a:tblGrid>
                <a:gridCol w="1005840"/>
                <a:gridCol w="1828800"/>
                <a:gridCol w="1828800"/>
                <a:gridCol w="1463040"/>
                <a:gridCol w="731520"/>
              </a:tblGrid>
              <a:tr h="530352">
                <a:tc>
                  <a:txBody>
                    <a:bodyPr/>
                    <a:lstStyle/>
                    <a:p>
                      <a:pPr>
                        <a:defRPr b="1" sz="950">
                          <a:solidFill>
                            <a:srgbClr val="2BDCE0"/>
                          </a:solidFill>
                        </a:defRPr>
                      </a:pPr>
                      <a:r>
                        <a:t>ID</a:t>
                      </a:r>
                    </a:p>
                  </a:txBody>
                  <a:tcPr>
                    <a:solidFill>
                      <a:srgbClr val="111D33"/>
                    </a:solidFill>
                  </a:tcPr>
                </a:tc>
                <a:tc>
                  <a:txBody>
                    <a:bodyPr/>
                    <a:lstStyle/>
                    <a:p>
                      <a:pPr>
                        <a:defRPr b="1" sz="950">
                          <a:solidFill>
                            <a:srgbClr val="2BDCE0"/>
                          </a:solidFill>
                        </a:defRPr>
                      </a:pPr>
                      <a:r>
                        <a:t>Facility</a:t>
                      </a:r>
                    </a:p>
                  </a:txBody>
                  <a:tcPr>
                    <a:solidFill>
                      <a:srgbClr val="111D33"/>
                    </a:solidFill>
                  </a:tcPr>
                </a:tc>
                <a:tc>
                  <a:txBody>
                    <a:bodyPr/>
                    <a:lstStyle/>
                    <a:p>
                      <a:pPr>
                        <a:defRPr b="1" sz="950">
                          <a:solidFill>
                            <a:srgbClr val="2BDCE0"/>
                          </a:solidFill>
                        </a:defRPr>
                      </a:pPr>
                      <a:r>
                        <a:t>Required Items</a:t>
                      </a:r>
                    </a:p>
                  </a:txBody>
                  <a:tcPr>
                    <a:solidFill>
                      <a:srgbClr val="111D33"/>
                    </a:solidFill>
                  </a:tcPr>
                </a:tc>
                <a:tc>
                  <a:txBody>
                    <a:bodyPr/>
                    <a:lstStyle/>
                    <a:p>
                      <a:pPr>
                        <a:defRPr b="1" sz="950">
                          <a:solidFill>
                            <a:srgbClr val="2BDCE0"/>
                          </a:solidFill>
                        </a:defRPr>
                      </a:pPr>
                      <a:r>
                        <a:t>Status</a:t>
                      </a:r>
                    </a:p>
                  </a:txBody>
                  <a:tcPr>
                    <a:solidFill>
                      <a:srgbClr val="111D33"/>
                    </a:solidFill>
                  </a:tcPr>
                </a:tc>
                <a:tc>
                  <a:txBody>
                    <a:bodyPr/>
                    <a:lstStyle/>
                    <a:p>
                      <a:pPr>
                        <a:defRPr b="1" sz="950">
                          <a:solidFill>
                            <a:srgbClr val="2BDCE0"/>
                          </a:solidFill>
                        </a:defRPr>
                      </a:pPr>
                      <a:r>
                        <a:t>Age</a:t>
                      </a:r>
                    </a:p>
                  </a:txBody>
                  <a:tcPr>
                    <a:solidFill>
                      <a:srgbClr val="111D33"/>
                    </a:solidFill>
                  </a:tcPr>
                </a:tc>
              </a:tr>
              <a:tr h="530352">
                <a:tc>
                  <a:txBody>
                    <a:bodyPr/>
                    <a:lstStyle/>
                    <a:p>
                      <a:pPr>
                        <a:defRPr sz="850">
                          <a:solidFill>
                            <a:srgbClr val="F4F8FF"/>
                          </a:solidFill>
                        </a:defRPr>
                      </a:pPr>
                      <a:r>
                        <a:t>REQ-0842</a:t>
                      </a:r>
                    </a:p>
                  </a:txBody>
                  <a:tcPr>
                    <a:solidFill>
                      <a:srgbClr val="0E182B"/>
                    </a:solidFill>
                  </a:tcPr>
                </a:tc>
                <a:tc>
                  <a:txBody>
                    <a:bodyPr/>
                    <a:lstStyle/>
                    <a:p>
                      <a:pPr>
                        <a:defRPr sz="850">
                          <a:solidFill>
                            <a:srgbClr val="F4F8FF"/>
                          </a:solidFill>
                        </a:defRPr>
                      </a:pPr>
                      <a:r>
                        <a:t>Camp Alpha (Govt HSS)</a:t>
                      </a:r>
                    </a:p>
                  </a:txBody>
                  <a:tcPr>
                    <a:solidFill>
                      <a:srgbClr val="0E182B"/>
                    </a:solidFill>
                  </a:tcPr>
                </a:tc>
                <a:tc>
                  <a:txBody>
                    <a:bodyPr/>
                    <a:lstStyle/>
                    <a:p>
                      <a:pPr>
                        <a:defRPr sz="850">
                          <a:solidFill>
                            <a:srgbClr val="F4F8FF"/>
                          </a:solidFill>
                        </a:defRPr>
                      </a:pPr>
                      <a:r>
                        <a:t>25 O2 Cylinders (CRITICAL)</a:t>
                      </a:r>
                    </a:p>
                  </a:txBody>
                  <a:tcPr>
                    <a:solidFill>
                      <a:srgbClr val="0E182B"/>
                    </a:solidFill>
                  </a:tcPr>
                </a:tc>
                <a:tc>
                  <a:txBody>
                    <a:bodyPr/>
                    <a:lstStyle/>
                    <a:p>
                      <a:pPr>
                        <a:defRPr sz="850">
                          <a:solidFill>
                            <a:srgbClr val="F4F8FF"/>
                          </a:solidFill>
                        </a:defRPr>
                      </a:pPr>
                      <a:r>
                        <a:t>ACKNOWLEDGED</a:t>
                      </a:r>
                    </a:p>
                  </a:txBody>
                  <a:tcPr>
                    <a:solidFill>
                      <a:srgbClr val="0E182B"/>
                    </a:solidFill>
                  </a:tcPr>
                </a:tc>
                <a:tc>
                  <a:txBody>
                    <a:bodyPr/>
                    <a:lstStyle/>
                    <a:p>
                      <a:pPr>
                        <a:defRPr sz="850">
                          <a:solidFill>
                            <a:srgbClr val="F4F8FF"/>
                          </a:solidFill>
                        </a:defRPr>
                      </a:pPr>
                      <a:r>
                        <a:t>14m</a:t>
                      </a:r>
                    </a:p>
                  </a:txBody>
                  <a:tcPr>
                    <a:solidFill>
                      <a:srgbClr val="0E182B"/>
                    </a:solidFill>
                  </a:tcPr>
                </a:tc>
              </a:tr>
              <a:tr h="530352">
                <a:tc>
                  <a:txBody>
                    <a:bodyPr/>
                    <a:lstStyle/>
                    <a:p>
                      <a:pPr>
                        <a:defRPr sz="850">
                          <a:solidFill>
                            <a:srgbClr val="F4F8FF"/>
                          </a:solidFill>
                        </a:defRPr>
                      </a:pPr>
                      <a:r>
                        <a:t>REQ-0839</a:t>
                      </a:r>
                    </a:p>
                  </a:txBody>
                  <a:tcPr>
                    <a:solidFill>
                      <a:srgbClr val="111D33"/>
                    </a:solidFill>
                  </a:tcPr>
                </a:tc>
                <a:tc>
                  <a:txBody>
                    <a:bodyPr/>
                    <a:lstStyle/>
                    <a:p>
                      <a:pPr>
                        <a:defRPr sz="850">
                          <a:solidFill>
                            <a:srgbClr val="F4F8FF"/>
                          </a:solidFill>
                        </a:defRPr>
                      </a:pPr>
                      <a:r>
                        <a:t>Apollo Field Clinic</a:t>
                      </a:r>
                    </a:p>
                  </a:txBody>
                  <a:tcPr>
                    <a:solidFill>
                      <a:srgbClr val="111D33"/>
                    </a:solidFill>
                  </a:tcPr>
                </a:tc>
                <a:tc>
                  <a:txBody>
                    <a:bodyPr/>
                    <a:lstStyle/>
                    <a:p>
                      <a:pPr>
                        <a:defRPr sz="850">
                          <a:solidFill>
                            <a:srgbClr val="F4F8FF"/>
                          </a:solidFill>
                        </a:defRPr>
                      </a:pPr>
                      <a:r>
                        <a:t>40 Units O- Blood (CRITICAL)</a:t>
                      </a:r>
                    </a:p>
                  </a:txBody>
                  <a:tcPr>
                    <a:solidFill>
                      <a:srgbClr val="111D33"/>
                    </a:solidFill>
                  </a:tcPr>
                </a:tc>
                <a:tc>
                  <a:txBody>
                    <a:bodyPr/>
                    <a:lstStyle/>
                    <a:p>
                      <a:pPr>
                        <a:defRPr sz="850">
                          <a:solidFill>
                            <a:srgbClr val="F4F8FF"/>
                          </a:solidFill>
                        </a:defRPr>
                      </a:pPr>
                      <a:r>
                        <a:t>IN TRANSIT (15/40)</a:t>
                      </a:r>
                    </a:p>
                  </a:txBody>
                  <a:tcPr>
                    <a:solidFill>
                      <a:srgbClr val="111D33"/>
                    </a:solidFill>
                  </a:tcPr>
                </a:tc>
                <a:tc>
                  <a:txBody>
                    <a:bodyPr/>
                    <a:lstStyle/>
                    <a:p>
                      <a:pPr>
                        <a:defRPr sz="850">
                          <a:solidFill>
                            <a:srgbClr val="F4F8FF"/>
                          </a:solidFill>
                        </a:defRPr>
                      </a:pPr>
                      <a:r>
                        <a:t>42m</a:t>
                      </a:r>
                    </a:p>
                  </a:txBody>
                  <a:tcPr>
                    <a:solidFill>
                      <a:srgbClr val="111D33"/>
                    </a:solidFill>
                  </a:tcPr>
                </a:tc>
              </a:tr>
              <a:tr h="530352">
                <a:tc>
                  <a:txBody>
                    <a:bodyPr/>
                    <a:lstStyle/>
                    <a:p>
                      <a:pPr>
                        <a:defRPr sz="850">
                          <a:solidFill>
                            <a:srgbClr val="F4F8FF"/>
                          </a:solidFill>
                        </a:defRPr>
                      </a:pPr>
                      <a:r>
                        <a:t>REQ-0835</a:t>
                      </a:r>
                    </a:p>
                  </a:txBody>
                  <a:tcPr>
                    <a:solidFill>
                      <a:srgbClr val="0E182B"/>
                    </a:solidFill>
                  </a:tcPr>
                </a:tc>
                <a:tc>
                  <a:txBody>
                    <a:bodyPr/>
                    <a:lstStyle/>
                    <a:p>
                      <a:pPr>
                        <a:defRPr sz="850">
                          <a:solidFill>
                            <a:srgbClr val="F4F8FF"/>
                          </a:solidFill>
                        </a:defRPr>
                      </a:pPr>
                      <a:r>
                        <a:t>Camp Delta (Maternity)</a:t>
                      </a:r>
                    </a:p>
                  </a:txBody>
                  <a:tcPr>
                    <a:solidFill>
                      <a:srgbClr val="0E182B"/>
                    </a:solidFill>
                  </a:tcPr>
                </a:tc>
                <a:tc>
                  <a:txBody>
                    <a:bodyPr/>
                    <a:lstStyle/>
                    <a:p>
                      <a:pPr>
                        <a:defRPr sz="850">
                          <a:solidFill>
                            <a:srgbClr val="F4F8FF"/>
                          </a:solidFill>
                        </a:defRPr>
                      </a:pPr>
                      <a:r>
                        <a:t>500L Saline IV (HIGH)</a:t>
                      </a:r>
                    </a:p>
                  </a:txBody>
                  <a:tcPr>
                    <a:solidFill>
                      <a:srgbClr val="0E182B"/>
                    </a:solidFill>
                  </a:tcPr>
                </a:tc>
                <a:tc>
                  <a:txBody>
                    <a:bodyPr/>
                    <a:lstStyle/>
                    <a:p>
                      <a:pPr>
                        <a:defRPr sz="850">
                          <a:solidFill>
                            <a:srgbClr val="F4F8FF"/>
                          </a:solidFill>
                        </a:defRPr>
                      </a:pPr>
                      <a:r>
                        <a:t>OFFER RECEIVED</a:t>
                      </a:r>
                    </a:p>
                  </a:txBody>
                  <a:tcPr>
                    <a:solidFill>
                      <a:srgbClr val="0E182B"/>
                    </a:solidFill>
                  </a:tcPr>
                </a:tc>
                <a:tc>
                  <a:txBody>
                    <a:bodyPr/>
                    <a:lstStyle/>
                    <a:p>
                      <a:pPr>
                        <a:defRPr sz="850">
                          <a:solidFill>
                            <a:srgbClr val="F4F8FF"/>
                          </a:solidFill>
                        </a:defRPr>
                      </a:pPr>
                      <a:r>
                        <a:t>1h 10m</a:t>
                      </a:r>
                    </a:p>
                  </a:txBody>
                  <a:tcPr>
                    <a:solidFill>
                      <a:srgbClr val="0E182B"/>
                    </a:solidFill>
                  </a:tcPr>
                </a:tc>
              </a:tr>
              <a:tr h="530352">
                <a:tc>
                  <a:txBody>
                    <a:bodyPr/>
                    <a:lstStyle/>
                    <a:p>
                      <a:pPr>
                        <a:defRPr sz="850">
                          <a:solidFill>
                            <a:srgbClr val="F4F8FF"/>
                          </a:solidFill>
                        </a:defRPr>
                      </a:pPr>
                      <a:r>
                        <a:t>REQ-0830</a:t>
                      </a:r>
                    </a:p>
                  </a:txBody>
                  <a:tcPr>
                    <a:solidFill>
                      <a:srgbClr val="111D33"/>
                    </a:solidFill>
                  </a:tcPr>
                </a:tc>
                <a:tc>
                  <a:txBody>
                    <a:bodyPr/>
                    <a:lstStyle/>
                    <a:p>
                      <a:pPr>
                        <a:defRPr sz="850">
                          <a:solidFill>
                            <a:srgbClr val="F4F8FF"/>
                          </a:solidFill>
                        </a:defRPr>
                      </a:pPr>
                      <a:r>
                        <a:t>PHC Kadambur</a:t>
                      </a:r>
                    </a:p>
                  </a:txBody>
                  <a:tcPr>
                    <a:solidFill>
                      <a:srgbClr val="111D33"/>
                    </a:solidFill>
                  </a:tcPr>
                </a:tc>
                <a:tc>
                  <a:txBody>
                    <a:bodyPr/>
                    <a:lstStyle/>
                    <a:p>
                      <a:pPr>
                        <a:defRPr sz="850">
                          <a:solidFill>
                            <a:srgbClr val="F4F8FF"/>
                          </a:solidFill>
                        </a:defRPr>
                      </a:pPr>
                      <a:r>
                        <a:t>1x 15kVA Generator (CRITICAL)</a:t>
                      </a:r>
                    </a:p>
                  </a:txBody>
                  <a:tcPr>
                    <a:solidFill>
                      <a:srgbClr val="111D33"/>
                    </a:solidFill>
                  </a:tcPr>
                </a:tc>
                <a:tc>
                  <a:txBody>
                    <a:bodyPr/>
                    <a:lstStyle/>
                    <a:p>
                      <a:pPr>
                        <a:defRPr sz="850">
                          <a:solidFill>
                            <a:srgbClr val="F4F8FF"/>
                          </a:solidFill>
                        </a:defRPr>
                      </a:pPr>
                      <a:r>
                        <a:t>VERIFIED RESOLVED</a:t>
                      </a:r>
                    </a:p>
                  </a:txBody>
                  <a:tcPr>
                    <a:solidFill>
                      <a:srgbClr val="111D33"/>
                    </a:solidFill>
                  </a:tcPr>
                </a:tc>
                <a:tc>
                  <a:txBody>
                    <a:bodyPr/>
                    <a:lstStyle/>
                    <a:p>
                      <a:pPr>
                        <a:defRPr sz="850">
                          <a:solidFill>
                            <a:srgbClr val="F4F8FF"/>
                          </a:solidFill>
                        </a:defRPr>
                      </a:pPr>
                      <a:r>
                        <a:t>2h 05m</a:t>
                      </a:r>
                    </a:p>
                  </a:txBody>
                  <a:tcPr>
                    <a:solidFill>
                      <a:srgbClr val="111D33"/>
                    </a:solidFill>
                  </a:tcPr>
                </a:tc>
              </a:tr>
            </a:tbl>
          </a:graphicData>
        </a:graphic>
      </p:graphicFrame>
      <p:sp>
        <p:nvSpPr>
          <p:cNvPr id="16" name="Rounded Rectangle 15"/>
          <p:cNvSpPr/>
          <p:nvPr/>
        </p:nvSpPr>
        <p:spPr>
          <a:xfrm>
            <a:off x="7772400" y="3383280"/>
            <a:ext cx="3687775" cy="265176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3474720"/>
            <a:ext cx="3413455" cy="2468880"/>
          </a:xfrm>
          <a:prstGeom prst="rect">
            <a:avLst/>
          </a:prstGeom>
          <a:noFill/>
        </p:spPr>
        <p:txBody>
          <a:bodyPr wrap="square">
            <a:spAutoFit/>
          </a:bodyPr>
          <a:lstStyle/>
          <a:p>
            <a:pPr>
              <a:defRPr b="1" sz="1300">
                <a:solidFill>
                  <a:srgbClr val="F4F8FF"/>
                </a:solidFill>
              </a:defRPr>
            </a:pPr>
            <a:r>
              <a:t>DETAILS: REQ-0842</a:t>
            </a:r>
          </a:p>
          <a:p>
            <a:pPr>
              <a:spcBef>
                <a:spcPts val="400"/>
              </a:spcBef>
              <a:defRPr sz="950">
                <a:solidFill>
                  <a:srgbClr val="A3B4CC"/>
                </a:solidFill>
              </a:defRPr>
            </a:pPr>
            <a:r>
              <a:t>Camp Alpha (Govt HSS) · Velachery Sector</a:t>
            </a:r>
            <a:br/>
            <a:r>
              <a:t>Need: 25 D-Type Oxygen Cylinders (Pediatric Emergency)</a:t>
            </a:r>
            <a:br/>
            <a:br/>
            <a:r>
              <a:t>LINKED VOLUNTEER OFFER:</a:t>
            </a:r>
            <a:br/>
            <a:r>
              <a:t>Coimbatore Medical College Hospital</a:t>
            </a:r>
            <a:br/>
            <a:r>
              <a:t>15 Oxygen Cylinders available for immediate dispatch</a:t>
            </a:r>
            <a:br/>
            <a:r>
              <a:t>[APPROVE ALLOCATION]   [PARTIAL SPLIT: 15/25]</a:t>
            </a:r>
            <a:br/>
            <a:br/>
            <a:r>
              <a:t>AUDIT LOG: 14:02 Created · 14:08 Acknowledged · 14:15 Offer Logged</a:t>
            </a:r>
          </a:p>
        </p:txBody>
      </p:sp>
      <p:sp>
        <p:nvSpPr>
          <p:cNvPr id="18" name="TextBox 17"/>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D: COMMAND DASHBOARD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D · SIMULATED DRILL WALKTHROUGH</a:t>
            </a:r>
          </a:p>
          <a:p>
            <a:pPr>
              <a:spcBef>
                <a:spcPts val="300"/>
              </a:spcBef>
              <a:defRPr sz="2000" b="1">
                <a:solidFill>
                  <a:srgbClr val="F4F8FF"/>
                </a:solidFill>
                <a:latin typeface="Arial"/>
              </a:defRPr>
            </a:pPr>
            <a:r>
              <a:t>Demo Scenario: Oxygen Supply Recovery in Cyclone Mandous</a:t>
            </a:r>
          </a:p>
          <a:p>
            <a:pPr>
              <a:spcBef>
                <a:spcPts val="200"/>
              </a:spcBef>
              <a:defRPr sz="1100">
                <a:solidFill>
                  <a:srgbClr val="A3B4CC"/>
                </a:solidFill>
                <a:latin typeface="Arial"/>
              </a:defRPr>
            </a:pPr>
            <a:r>
              <a:t>Step-by-step resolution of a critical resource shortage amidst intermittent connectivity.</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12 / 16</a:t>
            </a:r>
          </a:p>
        </p:txBody>
      </p:sp>
      <p:sp>
        <p:nvSpPr>
          <p:cNvPr id="5" name="Rounded Rectangle 4"/>
          <p:cNvSpPr/>
          <p:nvPr/>
        </p:nvSpPr>
        <p:spPr>
          <a:xfrm>
            <a:off x="731520" y="1645920"/>
            <a:ext cx="2011680" cy="3291840"/>
          </a:xfrm>
          <a:prstGeom prst="roundRect">
            <a:avLst/>
          </a:prstGeom>
          <a:solidFill>
            <a:srgbClr val="111D33"/>
          </a:solidFill>
          <a:ln w="12700">
            <a:solidFill>
              <a:srgbClr val="FF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737360" cy="3017520"/>
          </a:xfrm>
          <a:prstGeom prst="rect">
            <a:avLst/>
          </a:prstGeom>
          <a:noFill/>
        </p:spPr>
        <p:txBody>
          <a:bodyPr wrap="square">
            <a:spAutoFit/>
          </a:bodyPr>
          <a:lstStyle/>
          <a:p>
            <a:pPr>
              <a:defRPr b="1" sz="1100">
                <a:solidFill>
                  <a:srgbClr val="FF6878"/>
                </a:solidFill>
              </a:defRPr>
            </a:pPr>
            <a:r>
              <a:t>Phase 1 · 14:02</a:t>
            </a:r>
            <a:br/>
            <a:r>
              <a:t>Outage at Camp Beta</a:t>
            </a:r>
          </a:p>
          <a:p>
            <a:pPr>
              <a:spcBef>
                <a:spcPts val="600"/>
              </a:spcBef>
              <a:defRPr sz="950">
                <a:solidFill>
                  <a:srgbClr val="F4F8FF"/>
                </a:solidFill>
              </a:defRPr>
            </a:pPr>
            <a:r>
              <a:t>Cyclone knocks out power &amp; cellular links at Camp Beta. Dr. Priya drafts emergency request for 20 oxygen cylinders; saved in IndexedDB outbox.</a:t>
            </a:r>
          </a:p>
        </p:txBody>
      </p:sp>
      <p:sp>
        <p:nvSpPr>
          <p:cNvPr id="7" name="Rounded Rectangle 6"/>
          <p:cNvSpPr/>
          <p:nvPr/>
        </p:nvSpPr>
        <p:spPr>
          <a:xfrm>
            <a:off x="2926080" y="1645920"/>
            <a:ext cx="2011680" cy="32918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1783080"/>
            <a:ext cx="1737360" cy="3017520"/>
          </a:xfrm>
          <a:prstGeom prst="rect">
            <a:avLst/>
          </a:prstGeom>
          <a:noFill/>
        </p:spPr>
        <p:txBody>
          <a:bodyPr wrap="square">
            <a:spAutoFit/>
          </a:bodyPr>
          <a:lstStyle/>
          <a:p>
            <a:pPr>
              <a:defRPr b="1" sz="1100">
                <a:solidFill>
                  <a:srgbClr val="2BDCE0"/>
                </a:solidFill>
              </a:defRPr>
            </a:pPr>
            <a:r>
              <a:t>Phase 2 · 14:18</a:t>
            </a:r>
            <a:br/>
            <a:r>
              <a:t>Transient Signal Sync</a:t>
            </a:r>
          </a:p>
          <a:p>
            <a:pPr>
              <a:spcBef>
                <a:spcPts val="600"/>
              </a:spcBef>
              <a:defRPr sz="950">
                <a:solidFill>
                  <a:srgbClr val="F4F8FF"/>
                </a:solidFill>
              </a:defRPr>
            </a:pPr>
            <a:r>
              <a:t>Emergency telecom van passes nearby, restoring 2G for 40s. EDITH sync manager replays with Idempotency Key idemp_91a8. Server commits REQ-0512.</a:t>
            </a:r>
          </a:p>
        </p:txBody>
      </p:sp>
      <p:sp>
        <p:nvSpPr>
          <p:cNvPr id="9" name="Rounded Rectangle 8"/>
          <p:cNvSpPr/>
          <p:nvPr/>
        </p:nvSpPr>
        <p:spPr>
          <a:xfrm>
            <a:off x="5120640" y="1645920"/>
            <a:ext cx="2011680" cy="329184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57800" y="1783080"/>
            <a:ext cx="1737360" cy="3017520"/>
          </a:xfrm>
          <a:prstGeom prst="rect">
            <a:avLst/>
          </a:prstGeom>
          <a:noFill/>
        </p:spPr>
        <p:txBody>
          <a:bodyPr wrap="square">
            <a:spAutoFit/>
          </a:bodyPr>
          <a:lstStyle/>
          <a:p>
            <a:pPr>
              <a:defRPr b="1" sz="1100">
                <a:solidFill>
                  <a:srgbClr val="4C91FF"/>
                </a:solidFill>
              </a:defRPr>
            </a:pPr>
            <a:r>
              <a:t>Phase 3 · 14:25</a:t>
            </a:r>
            <a:br/>
            <a:r>
              <a:t>ICC Triage &amp; Offer</a:t>
            </a:r>
          </a:p>
          <a:p>
            <a:pPr>
              <a:spcBef>
                <a:spcPts val="600"/>
              </a:spcBef>
              <a:defRPr sz="950">
                <a:solidFill>
                  <a:srgbClr val="F4F8FF"/>
                </a:solidFill>
              </a:defRPr>
            </a:pPr>
            <a:r>
              <a:t>ICC Commander acknowledges REQ-0512. City Hospital logs voluntary offer: 12 cylinders available for immediate dispatch.</a:t>
            </a:r>
          </a:p>
        </p:txBody>
      </p:sp>
      <p:sp>
        <p:nvSpPr>
          <p:cNvPr id="11" name="Rounded Rectangle 10"/>
          <p:cNvSpPr/>
          <p:nvPr/>
        </p:nvSpPr>
        <p:spPr>
          <a:xfrm>
            <a:off x="7315199" y="1645920"/>
            <a:ext cx="2011680" cy="329184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59" y="1783080"/>
            <a:ext cx="1737360" cy="3017520"/>
          </a:xfrm>
          <a:prstGeom prst="rect">
            <a:avLst/>
          </a:prstGeom>
          <a:noFill/>
        </p:spPr>
        <p:txBody>
          <a:bodyPr wrap="square">
            <a:spAutoFit/>
          </a:bodyPr>
          <a:lstStyle/>
          <a:p>
            <a:pPr>
              <a:defRPr b="1" sz="1100">
                <a:solidFill>
                  <a:srgbClr val="FFA44C"/>
                </a:solidFill>
              </a:defRPr>
            </a:pPr>
            <a:r>
              <a:t>Phase 4 · 14:34</a:t>
            </a:r>
            <a:br/>
            <a:r>
              <a:t>Atomic Lock &amp; Transit</a:t>
            </a:r>
          </a:p>
          <a:p>
            <a:pPr>
              <a:spcBef>
                <a:spcPts val="600"/>
              </a:spcBef>
              <a:defRPr sz="950">
                <a:solidFill>
                  <a:srgbClr val="F4F8FF"/>
                </a:solidFill>
              </a:defRPr>
            </a:pPr>
            <a:r>
              <a:t>ICC approves allocation. DB row-lock locks 12 units (0 over-allocation). Logistics vehicle TN-01-G-7712 departs with driver.</a:t>
            </a:r>
          </a:p>
        </p:txBody>
      </p:sp>
      <p:sp>
        <p:nvSpPr>
          <p:cNvPr id="13" name="Rounded Rectangle 12"/>
          <p:cNvSpPr/>
          <p:nvPr/>
        </p:nvSpPr>
        <p:spPr>
          <a:xfrm>
            <a:off x="9509760" y="1645920"/>
            <a:ext cx="2011680" cy="329184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46920" y="1783080"/>
            <a:ext cx="1737360" cy="3017520"/>
          </a:xfrm>
          <a:prstGeom prst="rect">
            <a:avLst/>
          </a:prstGeom>
          <a:noFill/>
        </p:spPr>
        <p:txBody>
          <a:bodyPr wrap="square">
            <a:spAutoFit/>
          </a:bodyPr>
          <a:lstStyle/>
          <a:p>
            <a:pPr>
              <a:defRPr b="1" sz="1100">
                <a:solidFill>
                  <a:srgbClr val="52DCA4"/>
                </a:solidFill>
              </a:defRPr>
            </a:pPr>
            <a:r>
              <a:t>Phase 5 · 15:45</a:t>
            </a:r>
            <a:br/>
            <a:r>
              <a:t>Verified Receipt</a:t>
            </a:r>
          </a:p>
          <a:p>
            <a:pPr>
              <a:spcBef>
                <a:spcPts val="600"/>
              </a:spcBef>
              <a:defRPr sz="950">
                <a:solidFill>
                  <a:srgbClr val="F4F8FF"/>
                </a:solidFill>
              </a:defRPr>
            </a:pPr>
            <a:r>
              <a:t>Driver drops cargo. Dr. Priya inspects and verifies 12 units. State splits: 12 confirmed closed, 8 units remain active in queue.</a:t>
            </a:r>
          </a:p>
        </p:txBody>
      </p:sp>
      <p:sp>
        <p:nvSpPr>
          <p:cNvPr id="15" name="Rounded Rectangle 14"/>
          <p:cNvSpPr/>
          <p:nvPr/>
        </p:nvSpPr>
        <p:spPr>
          <a:xfrm>
            <a:off x="731520" y="5120640"/>
            <a:ext cx="10728655" cy="10058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66360"/>
            <a:ext cx="10362895" cy="914400"/>
          </a:xfrm>
          <a:prstGeom prst="rect">
            <a:avLst/>
          </a:prstGeom>
          <a:noFill/>
        </p:spPr>
        <p:txBody>
          <a:bodyPr wrap="square">
            <a:spAutoFit/>
          </a:bodyPr>
          <a:lstStyle/>
          <a:p>
            <a:pPr>
              <a:defRPr b="1" sz="1000">
                <a:solidFill>
                  <a:srgbClr val="2BDCE0"/>
                </a:solidFill>
              </a:defRPr>
            </a:pPr>
            <a:r>
              <a:t>WHAT THIS DRILL PROVES</a:t>
            </a:r>
          </a:p>
          <a:p>
            <a:pPr>
              <a:spcBef>
                <a:spcPts val="300"/>
              </a:spcBef>
              <a:defRPr sz="1000">
                <a:solidFill>
                  <a:srgbClr val="F4F8FF"/>
                </a:solidFill>
              </a:defRPr>
            </a:pPr>
            <a:r>
              <a:t>No data lost during blackout; zero duplicate tickets on transient reconnection; zero over-allocation occurred; and unfulfilled quota (8 cylinders) remained visible for secondary donor offers.</a:t>
            </a:r>
          </a:p>
        </p:txBody>
      </p:sp>
      <p:sp>
        <p:nvSpPr>
          <p:cNvPr id="17" name="TextBox 16"/>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D: SIMULATED DEMO DRILL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D · VALUE PROPOSITION &amp; METRICS</a:t>
            </a:r>
          </a:p>
          <a:p>
            <a:pPr>
              <a:spcBef>
                <a:spcPts val="300"/>
              </a:spcBef>
              <a:defRPr sz="2000" b="1">
                <a:solidFill>
                  <a:srgbClr val="F4F8FF"/>
                </a:solidFill>
                <a:latin typeface="Arial"/>
              </a:defRPr>
            </a:pPr>
            <a:r>
              <a:t>Core Capabilities &amp; Pilot Validation Metrics</a:t>
            </a:r>
          </a:p>
          <a:p>
            <a:pPr>
              <a:spcBef>
                <a:spcPts val="200"/>
              </a:spcBef>
              <a:defRPr sz="1100">
                <a:solidFill>
                  <a:srgbClr val="A3B4CC"/>
                </a:solidFill>
                <a:latin typeface="Arial"/>
              </a:defRPr>
            </a:pPr>
            <a:r>
              <a:t>Translating architectural resilience into measurable life-saving coordination outcomes.</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13 / 16</a:t>
            </a:r>
          </a:p>
        </p:txBody>
      </p:sp>
      <p:sp>
        <p:nvSpPr>
          <p:cNvPr id="5" name="Rounded Rectangle 4"/>
          <p:cNvSpPr/>
          <p:nvPr/>
        </p:nvSpPr>
        <p:spPr>
          <a:xfrm>
            <a:off x="731520" y="1645920"/>
            <a:ext cx="3383280" cy="23774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810512"/>
            <a:ext cx="3054096" cy="2048256"/>
          </a:xfrm>
          <a:prstGeom prst="rect">
            <a:avLst/>
          </a:prstGeom>
          <a:noFill/>
        </p:spPr>
        <p:txBody>
          <a:bodyPr wrap="square">
            <a:spAutoFit/>
          </a:bodyPr>
          <a:lstStyle/>
          <a:p>
            <a:pPr>
              <a:defRPr b="1" sz="1300">
                <a:solidFill>
                  <a:srgbClr val="2BDCE0"/>
                </a:solidFill>
              </a:defRPr>
            </a:pPr>
            <a:r>
              <a:t>1. Operational Visibility</a:t>
            </a:r>
          </a:p>
          <a:p>
            <a:pPr>
              <a:spcBef>
                <a:spcPts val="600"/>
              </a:spcBef>
              <a:defRPr sz="950">
                <a:solidFill>
                  <a:srgbClr val="F4F8FF"/>
                </a:solidFill>
              </a:defRPr>
            </a:pPr>
            <a:r>
              <a:t>• Unified multi-facility triage queue with urgency badges</a:t>
            </a:r>
            <a:br/>
            <a:r>
              <a:t>• Mandatory coordinator assignment eliminating orphaned tickets</a:t>
            </a:r>
            <a:br/>
            <a:r>
              <a:t>• Automated SLA timers tracking unacknowledged emergencies</a:t>
            </a:r>
            <a:br/>
            <a:r>
              <a:t>• Immutable audit history documenting every transition</a:t>
            </a:r>
          </a:p>
        </p:txBody>
      </p:sp>
      <p:sp>
        <p:nvSpPr>
          <p:cNvPr id="7" name="Rounded Rectangle 6"/>
          <p:cNvSpPr/>
          <p:nvPr/>
        </p:nvSpPr>
        <p:spPr>
          <a:xfrm>
            <a:off x="4389120" y="1645920"/>
            <a:ext cx="3383280" cy="237744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810512"/>
            <a:ext cx="3054096" cy="2048256"/>
          </a:xfrm>
          <a:prstGeom prst="rect">
            <a:avLst/>
          </a:prstGeom>
          <a:noFill/>
        </p:spPr>
        <p:txBody>
          <a:bodyPr wrap="square">
            <a:spAutoFit/>
          </a:bodyPr>
          <a:lstStyle/>
          <a:p>
            <a:pPr>
              <a:defRPr b="1" sz="1300">
                <a:solidFill>
                  <a:srgbClr val="4C91FF"/>
                </a:solidFill>
              </a:defRPr>
            </a:pPr>
            <a:r>
              <a:t>2. Resource Coordination</a:t>
            </a:r>
          </a:p>
          <a:p>
            <a:pPr>
              <a:spcBef>
                <a:spcPts val="600"/>
              </a:spcBef>
              <a:defRPr sz="950">
                <a:solidFill>
                  <a:srgbClr val="F4F8FF"/>
                </a:solidFill>
              </a:defRPr>
            </a:pPr>
            <a:r>
              <a:t>• Sovereign voluntary offers without full inventory exposure</a:t>
            </a:r>
            <a:br/>
            <a:r>
              <a:t>• Transactional atomic allocation eliminating double-promising</a:t>
            </a:r>
            <a:br/>
            <a:r>
              <a:t>• Automatic state-splitting for partial fulfilments</a:t>
            </a:r>
            <a:br/>
            <a:r>
              <a:t>• Transit tracking and formal delivery dispute escalation</a:t>
            </a:r>
          </a:p>
        </p:txBody>
      </p:sp>
      <p:sp>
        <p:nvSpPr>
          <p:cNvPr id="9" name="Rounded Rectangle 8"/>
          <p:cNvSpPr/>
          <p:nvPr/>
        </p:nvSpPr>
        <p:spPr>
          <a:xfrm>
            <a:off x="8046720" y="1645920"/>
            <a:ext cx="3383280" cy="237744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810512"/>
            <a:ext cx="3054096" cy="2048256"/>
          </a:xfrm>
          <a:prstGeom prst="rect">
            <a:avLst/>
          </a:prstGeom>
          <a:noFill/>
        </p:spPr>
        <p:txBody>
          <a:bodyPr wrap="square">
            <a:spAutoFit/>
          </a:bodyPr>
          <a:lstStyle/>
          <a:p>
            <a:pPr>
              <a:defRPr b="1" sz="1300">
                <a:solidFill>
                  <a:srgbClr val="52DCA4"/>
                </a:solidFill>
              </a:defRPr>
            </a:pPr>
            <a:r>
              <a:t>3. Connectivity Resilience</a:t>
            </a:r>
          </a:p>
          <a:p>
            <a:pPr>
              <a:spcBef>
                <a:spcPts val="600"/>
              </a:spcBef>
              <a:defRPr sz="950">
                <a:solidFill>
                  <a:srgbClr val="F4F8FF"/>
                </a:solidFill>
              </a:defRPr>
            </a:pPr>
            <a:r>
              <a:t>• Offline application shell caching via PWA Service Worker</a:t>
            </a:r>
            <a:br/>
            <a:r>
              <a:t>• IndexedDB transactional outbox preserving field drafts</a:t>
            </a:r>
            <a:br/>
            <a:r>
              <a:t>• Idempotent sync engine preventing duplicate tickets on retry</a:t>
            </a:r>
            <a:br/>
            <a:r>
              <a:t>• Two-phase recipient verification separating dispatch from delivery</a:t>
            </a:r>
          </a:p>
        </p:txBody>
      </p:sp>
      <p:sp>
        <p:nvSpPr>
          <p:cNvPr id="11" name="Rounded Rectangle 10"/>
          <p:cNvSpPr/>
          <p:nvPr/>
        </p:nvSpPr>
        <p:spPr>
          <a:xfrm>
            <a:off x="731520" y="4206240"/>
            <a:ext cx="10728655" cy="192024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10362895" cy="1737360"/>
          </a:xfrm>
          <a:prstGeom prst="rect">
            <a:avLst/>
          </a:prstGeom>
          <a:noFill/>
        </p:spPr>
        <p:txBody>
          <a:bodyPr wrap="square">
            <a:spAutoFit/>
          </a:bodyPr>
          <a:lstStyle/>
          <a:p>
            <a:pPr>
              <a:defRPr b="1" sz="1050">
                <a:solidFill>
                  <a:srgbClr val="2BDCE0"/>
                </a:solidFill>
              </a:defRPr>
            </a:pPr>
            <a:r>
              <a:t>TARGET PILOT VALIDATION HYPOTHESES (MEASURABLE SUCCESS CRITERIA)</a:t>
            </a:r>
          </a:p>
          <a:p>
            <a:pPr>
              <a:spcBef>
                <a:spcPts val="400"/>
              </a:spcBef>
              <a:defRPr sz="1000">
                <a:solidFill>
                  <a:srgbClr val="F4F8FF"/>
                </a:solidFill>
              </a:defRPr>
            </a:pPr>
            <a:r>
              <a:t>• Time-to-Ack: &gt;65% reduction in unacknowledged request duration vs informal channels</a:t>
            </a:r>
            <a:br/>
            <a:r>
              <a:t>• Named Accountability: 100% of emergency requests assigned to a designated human coordinator</a:t>
            </a:r>
            <a:br/>
            <a:r>
              <a:t>• Over-Allocation: 0 multi-allocation errors under high-concurrency disaster drills</a:t>
            </a:r>
            <a:br/>
            <a:r>
              <a:t>• Offline Replay: 100% successful replay of queued offline drafts upon reconnection</a:t>
            </a:r>
            <a:br/>
            <a:r>
              <a:t>• Verification: 100% of closed requests confirmed by recipient facility medical officer</a:t>
            </a:r>
          </a:p>
        </p:txBody>
      </p:sp>
      <p:sp>
        <p:nvSpPr>
          <p:cNvPr id="13" name="TextBox 12"/>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D: CAPABILITIES &amp; IMPACT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E · SUSTAINABILITY &amp; ADOPTION</a:t>
            </a:r>
          </a:p>
          <a:p>
            <a:pPr>
              <a:spcBef>
                <a:spcPts val="300"/>
              </a:spcBef>
              <a:defRPr sz="2000" b="1">
                <a:solidFill>
                  <a:srgbClr val="F4F8FF"/>
                </a:solidFill>
                <a:latin typeface="Arial"/>
              </a:defRPr>
            </a:pPr>
            <a:r>
              <a:t>Institutional Adoption Model &amp; Sustainability Pathway</a:t>
            </a:r>
          </a:p>
          <a:p>
            <a:pPr>
              <a:spcBef>
                <a:spcPts val="200"/>
              </a:spcBef>
              <a:defRPr sz="1100">
                <a:solidFill>
                  <a:srgbClr val="A3B4CC"/>
                </a:solidFill>
                <a:latin typeface="Arial"/>
              </a:defRPr>
            </a:pPr>
            <a:r>
              <a:t>A viable deployment model for humanitarian agencies and public health authorities.</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14 / 16</a:t>
            </a:r>
          </a:p>
        </p:txBody>
      </p:sp>
      <p:sp>
        <p:nvSpPr>
          <p:cNvPr id="5" name="Rounded Rectangle 4"/>
          <p:cNvSpPr/>
          <p:nvPr/>
        </p:nvSpPr>
        <p:spPr>
          <a:xfrm>
            <a:off x="731520" y="1645920"/>
            <a:ext cx="3383280" cy="310896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2743200"/>
          </a:xfrm>
          <a:prstGeom prst="rect">
            <a:avLst/>
          </a:prstGeom>
          <a:noFill/>
        </p:spPr>
        <p:txBody>
          <a:bodyPr wrap="square">
            <a:spAutoFit/>
          </a:bodyPr>
          <a:lstStyle/>
          <a:p>
            <a:pPr>
              <a:defRPr b="1" sz="1300">
                <a:solidFill>
                  <a:srgbClr val="2BDCE0"/>
                </a:solidFill>
              </a:defRPr>
            </a:pPr>
            <a:r>
              <a:t>Target Ecosystem</a:t>
            </a:r>
          </a:p>
          <a:p>
            <a:pPr>
              <a:spcBef>
                <a:spcPts val="800"/>
              </a:spcBef>
              <a:defRPr sz="1050">
                <a:solidFill>
                  <a:srgbClr val="F4F8FF"/>
                </a:solidFill>
              </a:defRPr>
            </a:pPr>
            <a:r>
              <a:t>• State Disaster Management Authorities (SDMAs)</a:t>
            </a:r>
            <a:br/>
            <a:r>
              <a:t>• Public &amp; Private Hospital Networks</a:t>
            </a:r>
            <a:br/>
            <a:r>
              <a:t>• Relief NGOs (Red Cross, MSF, Trusts)</a:t>
            </a:r>
            <a:br/>
            <a:r>
              <a:t>• District Emergency Operation Centres (DEOCs)</a:t>
            </a:r>
          </a:p>
        </p:txBody>
      </p:sp>
      <p:sp>
        <p:nvSpPr>
          <p:cNvPr id="7" name="Rounded Rectangle 6"/>
          <p:cNvSpPr/>
          <p:nvPr/>
        </p:nvSpPr>
        <p:spPr>
          <a:xfrm>
            <a:off x="4389120" y="1645920"/>
            <a:ext cx="3383280" cy="310896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2743200"/>
          </a:xfrm>
          <a:prstGeom prst="rect">
            <a:avLst/>
          </a:prstGeom>
          <a:noFill/>
        </p:spPr>
        <p:txBody>
          <a:bodyPr wrap="square">
            <a:spAutoFit/>
          </a:bodyPr>
          <a:lstStyle/>
          <a:p>
            <a:pPr>
              <a:defRPr b="1" sz="1300">
                <a:solidFill>
                  <a:srgbClr val="4C91FF"/>
                </a:solidFill>
              </a:defRPr>
            </a:pPr>
            <a:r>
              <a:t>Sustainability Model</a:t>
            </a:r>
          </a:p>
          <a:p>
            <a:pPr>
              <a:spcBef>
                <a:spcPts val="800"/>
              </a:spcBef>
              <a:defRPr sz="1050">
                <a:solidFill>
                  <a:srgbClr val="F4F8FF"/>
                </a:solidFill>
              </a:defRPr>
            </a:pPr>
            <a:r>
              <a:t>• Open-Core Public Good: Core platform open for trust</a:t>
            </a:r>
            <a:br/>
            <a:r>
              <a:t>• Institutional SLA &amp; Hosting: Paid support &amp; failover</a:t>
            </a:r>
            <a:br/>
            <a:r>
              <a:t>• Simulation Drills &amp; Onboarding: Pre-disaster workshops</a:t>
            </a:r>
            <a:br/>
            <a:r>
              <a:t>• Zero Frontline Barrier: 100% free for temporary camps</a:t>
            </a:r>
          </a:p>
        </p:txBody>
      </p:sp>
      <p:sp>
        <p:nvSpPr>
          <p:cNvPr id="9" name="Rounded Rectangle 8"/>
          <p:cNvSpPr/>
          <p:nvPr/>
        </p:nvSpPr>
        <p:spPr>
          <a:xfrm>
            <a:off x="8046720" y="1645920"/>
            <a:ext cx="3383280" cy="310896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2743200"/>
          </a:xfrm>
          <a:prstGeom prst="rect">
            <a:avLst/>
          </a:prstGeom>
          <a:noFill/>
        </p:spPr>
        <p:txBody>
          <a:bodyPr wrap="square">
            <a:spAutoFit/>
          </a:bodyPr>
          <a:lstStyle/>
          <a:p>
            <a:pPr>
              <a:defRPr b="1" sz="1300">
                <a:solidFill>
                  <a:srgbClr val="52DCA4"/>
                </a:solidFill>
              </a:defRPr>
            </a:pPr>
            <a:r>
              <a:t>Adoption Pathway</a:t>
            </a:r>
          </a:p>
          <a:p>
            <a:pPr>
              <a:spcBef>
                <a:spcPts val="800"/>
              </a:spcBef>
              <a:defRPr sz="1050">
                <a:solidFill>
                  <a:srgbClr val="F4F8FF"/>
                </a:solidFill>
              </a:defRPr>
            </a:pPr>
            <a:r>
              <a:t>• Phase 1: Academic &amp; Hackathon Pilot in Coimbatore</a:t>
            </a:r>
            <a:br/>
            <a:r>
              <a:t>• Phase 2: Tabletop simulation with local relief NGOs</a:t>
            </a:r>
            <a:br/>
            <a:r>
              <a:t>• Phase 3: Municipal flood mock-drill integration</a:t>
            </a:r>
            <a:br/>
            <a:r>
              <a:t>• Phase 4: Institutional deployment for active monsoons</a:t>
            </a:r>
          </a:p>
        </p:txBody>
      </p:sp>
      <p:sp>
        <p:nvSpPr>
          <p:cNvPr id="11" name="Rounded Rectangle 10"/>
          <p:cNvSpPr/>
          <p:nvPr/>
        </p:nvSpPr>
        <p:spPr>
          <a:xfrm>
            <a:off x="731520" y="4937760"/>
            <a:ext cx="10728655" cy="118872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83480"/>
            <a:ext cx="10362895" cy="1097280"/>
          </a:xfrm>
          <a:prstGeom prst="rect">
            <a:avLst/>
          </a:prstGeom>
          <a:noFill/>
        </p:spPr>
        <p:txBody>
          <a:bodyPr wrap="square">
            <a:spAutoFit/>
          </a:bodyPr>
          <a:lstStyle/>
          <a:p>
            <a:pPr>
              <a:defRPr b="1" sz="1000">
                <a:solidFill>
                  <a:srgbClr val="2BDCE0"/>
                </a:solidFill>
              </a:defRPr>
            </a:pPr>
            <a:r>
              <a:t>MITIGATING PUBLIC SECTOR ADOPTION FRICTION</a:t>
            </a:r>
          </a:p>
          <a:p>
            <a:pPr>
              <a:spcBef>
                <a:spcPts val="400"/>
              </a:spcBef>
              <a:defRPr sz="1000">
                <a:solidFill>
                  <a:srgbClr val="F4F8FF"/>
                </a:solidFill>
              </a:defRPr>
            </a:pPr>
            <a:r>
              <a:t>Avoiding long procurement delays by providing a turnkey Docker image and zero-login guest drafting for emergency field responders during acute crises.</a:t>
            </a:r>
          </a:p>
        </p:txBody>
      </p:sp>
      <p:sp>
        <p:nvSpPr>
          <p:cNvPr id="13" name="TextBox 12"/>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E: BUSINESS MODEL &amp; ADOPTION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E · FEASIBILITY &amp; RISK MITIGATION</a:t>
            </a:r>
          </a:p>
          <a:p>
            <a:pPr>
              <a:spcBef>
                <a:spcPts val="300"/>
              </a:spcBef>
              <a:defRPr sz="2000" b="1">
                <a:solidFill>
                  <a:srgbClr val="F4F8FF"/>
                </a:solidFill>
                <a:latin typeface="Arial"/>
              </a:defRPr>
            </a:pPr>
            <a:r>
              <a:t>Technical Feasibility, Testing Matrix &amp; Risk Safeguards</a:t>
            </a:r>
          </a:p>
          <a:p>
            <a:pPr>
              <a:spcBef>
                <a:spcPts val="200"/>
              </a:spcBef>
              <a:defRPr sz="1100">
                <a:solidFill>
                  <a:srgbClr val="A3B4CC"/>
                </a:solidFill>
                <a:latin typeface="Arial"/>
              </a:defRPr>
            </a:pPr>
            <a:r>
              <a:t>Rigorous software engineering that separates practical innovation from speculative concepts.</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15 / 16</a:t>
            </a:r>
          </a:p>
        </p:txBody>
      </p:sp>
      <p:sp>
        <p:nvSpPr>
          <p:cNvPr id="5" name="Rounded Rectangle 4"/>
          <p:cNvSpPr/>
          <p:nvPr/>
        </p:nvSpPr>
        <p:spPr>
          <a:xfrm>
            <a:off x="731520" y="1645920"/>
            <a:ext cx="5212080" cy="301752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46320" cy="2651760"/>
          </a:xfrm>
          <a:prstGeom prst="rect">
            <a:avLst/>
          </a:prstGeom>
          <a:noFill/>
        </p:spPr>
        <p:txBody>
          <a:bodyPr wrap="square">
            <a:spAutoFit/>
          </a:bodyPr>
          <a:lstStyle/>
          <a:p>
            <a:pPr>
              <a:defRPr b="1" sz="1300">
                <a:solidFill>
                  <a:srgbClr val="2BDCE0"/>
                </a:solidFill>
              </a:defRPr>
            </a:pPr>
            <a:r>
              <a:t>COMPREHENSIVE TESTING MATRIX</a:t>
            </a:r>
          </a:p>
          <a:p>
            <a:pPr>
              <a:spcBef>
                <a:spcPts val="800"/>
              </a:spcBef>
              <a:defRPr sz="1000">
                <a:solidFill>
                  <a:srgbClr val="F4F8FF"/>
                </a:solidFill>
              </a:defRPr>
            </a:pPr>
            <a:r>
              <a:t>• Synthetic Disaster Load: Scripted simulation of 100+ concurrent requests across 20 camps</a:t>
            </a:r>
            <a:br/>
            <a:r>
              <a:t>• Concurrency Race Tests: Pytest suite firing 10 simultaneous allocations against 1 stock pool</a:t>
            </a:r>
            <a:br/>
            <a:r>
              <a:t>• Network Chaos Verification: Simulated connection drops during active outbox sync</a:t>
            </a:r>
            <a:br/>
            <a:r>
              <a:t>• State Transition Coverage: 100% automated branch testing across all 7 lifecycle states</a:t>
            </a:r>
          </a:p>
        </p:txBody>
      </p:sp>
      <p:sp>
        <p:nvSpPr>
          <p:cNvPr id="7" name="Rounded Rectangle 6"/>
          <p:cNvSpPr/>
          <p:nvPr/>
        </p:nvSpPr>
        <p:spPr>
          <a:xfrm>
            <a:off x="6217920" y="1645920"/>
            <a:ext cx="5212080" cy="301752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2651760"/>
          </a:xfrm>
          <a:prstGeom prst="rect">
            <a:avLst/>
          </a:prstGeom>
          <a:noFill/>
        </p:spPr>
        <p:txBody>
          <a:bodyPr wrap="square">
            <a:spAutoFit/>
          </a:bodyPr>
          <a:lstStyle/>
          <a:p>
            <a:pPr>
              <a:defRPr b="1" sz="1300">
                <a:solidFill>
                  <a:srgbClr val="FFA44C"/>
                </a:solidFill>
              </a:defRPr>
            </a:pPr>
            <a:r>
              <a:t>OPERATIONAL RISK VS. MITIGATION</a:t>
            </a:r>
          </a:p>
          <a:p>
            <a:pPr>
              <a:spcBef>
                <a:spcPts val="800"/>
              </a:spcBef>
              <a:defRPr sz="1000">
                <a:solidFill>
                  <a:srgbClr val="F4F8FF"/>
                </a:solidFill>
              </a:defRPr>
            </a:pPr>
            <a:r>
              <a:t>• Risk: Stale Resource Information</a:t>
            </a:r>
            <a:br/>
            <a:r>
              <a:t>  Mitigation: Request-centric model; facilities volunteer only verified surplus.</a:t>
            </a:r>
            <a:br/>
            <a:r>
              <a:t>• Risk: Multi-Device Conflict &amp; Overwrites</a:t>
            </a:r>
            <a:br/>
            <a:r>
              <a:t>  Mitigation: Optimistic locking with version integers; server rejects stale updates.</a:t>
            </a:r>
            <a:br/>
            <a:r>
              <a:t>• Risk: High-Stress Field Adoption Resistance</a:t>
            </a:r>
            <a:br/>
            <a:r>
              <a:t>  Mitigation: Ultra-lightweight form design requiring under 30s to submit.</a:t>
            </a:r>
          </a:p>
        </p:txBody>
      </p:sp>
      <p:sp>
        <p:nvSpPr>
          <p:cNvPr id="9" name="Rounded Rectangle 8"/>
          <p:cNvSpPr/>
          <p:nvPr/>
        </p:nvSpPr>
        <p:spPr>
          <a:xfrm>
            <a:off x="731520" y="4846320"/>
            <a:ext cx="10728655" cy="128016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92040"/>
            <a:ext cx="10362895" cy="1188720"/>
          </a:xfrm>
          <a:prstGeom prst="rect">
            <a:avLst/>
          </a:prstGeom>
          <a:noFill/>
        </p:spPr>
        <p:txBody>
          <a:bodyPr wrap="square">
            <a:spAutoFit/>
          </a:bodyPr>
          <a:lstStyle/>
          <a:p>
            <a:pPr>
              <a:defRPr b="1" sz="1000">
                <a:solidFill>
                  <a:srgbClr val="52DCA4"/>
                </a:solidFill>
              </a:defRPr>
            </a:pPr>
            <a:r>
              <a:t>FIELD DEPLOYMENT FEASIBILITY</a:t>
            </a:r>
          </a:p>
          <a:p>
            <a:pPr>
              <a:spcBef>
                <a:spcPts val="400"/>
              </a:spcBef>
              <a:defRPr sz="1000">
                <a:solidFill>
                  <a:srgbClr val="F4F8FF"/>
                </a:solidFill>
              </a:defRPr>
            </a:pPr>
            <a:r>
              <a:t>• Hardware: Runs smoothly on a $20/mo cloud VM or a local command laptop</a:t>
            </a:r>
            <a:br/>
            <a:r>
              <a:t>• Zero Licensing: 100% open standards (FastAPI, PostgreSQL, Vanilla PWA)</a:t>
            </a:r>
            <a:br/>
            <a:r>
              <a:t>• Universal Support: Operates on Android, iOS, Windows, Linux, and macOS without app store installs</a:t>
            </a:r>
          </a:p>
        </p:txBody>
      </p:sp>
      <p:sp>
        <p:nvSpPr>
          <p:cNvPr id="11" name="TextBox 10"/>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E: FEASIBILITY &amp; RISK MITIGATION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950" b="1">
                <a:solidFill>
                  <a:srgbClr val="2BDCE0"/>
                </a:solidFill>
                <a:latin typeface="Arial"/>
              </a:defRPr>
            </a:pPr>
            <a:r>
              <a:t>● SECTION F · ROADMAP &amp; CLOSING VISION</a:t>
            </a:r>
          </a:p>
          <a:p>
            <a:pPr>
              <a:spcBef>
                <a:spcPts val="300"/>
              </a:spcBef>
              <a:defRPr sz="2000" b="1">
                <a:solidFill>
                  <a:srgbClr val="F4F8FF"/>
                </a:solidFill>
                <a:latin typeface="Arial"/>
              </a:defRPr>
            </a:pPr>
            <a:r>
              <a:t>Execution Roadmap &amp; The EDITH Commitment</a:t>
            </a:r>
          </a:p>
          <a:p>
            <a:pPr>
              <a:spcBef>
                <a:spcPts val="200"/>
              </a:spcBef>
              <a:defRPr sz="1100">
                <a:solidFill>
                  <a:srgbClr val="A3B4CC"/>
                </a:solidFill>
                <a:latin typeface="Arial"/>
              </a:defRPr>
            </a:pPr>
            <a:r>
              <a:t>From hackathon baseline to hardened institutional disaster deployment.</a:t>
            </a:r>
          </a:p>
        </p:txBody>
      </p:sp>
      <p:sp>
        <p:nvSpPr>
          <p:cNvPr id="4" name="TextBox 3"/>
          <p:cNvSpPr txBox="1"/>
          <p:nvPr/>
        </p:nvSpPr>
        <p:spPr>
          <a:xfrm>
            <a:off x="9875520" y="365760"/>
            <a:ext cx="1554480" cy="320040"/>
          </a:xfrm>
          <a:prstGeom prst="rect">
            <a:avLst/>
          </a:prstGeom>
          <a:noFill/>
        </p:spPr>
        <p:txBody>
          <a:bodyPr wrap="none">
            <a:spAutoFit/>
          </a:bodyPr>
          <a:lstStyle/>
          <a:p>
            <a:pPr algn="r">
              <a:defRPr sz="950" b="1">
                <a:solidFill>
                  <a:srgbClr val="4C91FF"/>
                </a:solidFill>
                <a:latin typeface="Arial"/>
              </a:defRPr>
            </a:pPr>
            <a:r>
              <a:t>SLIDE 16 / 16</a:t>
            </a:r>
          </a:p>
        </p:txBody>
      </p:sp>
      <p:sp>
        <p:nvSpPr>
          <p:cNvPr id="5" name="Rounded Rectangle 4"/>
          <p:cNvSpPr/>
          <p:nvPr/>
        </p:nvSpPr>
        <p:spPr>
          <a:xfrm>
            <a:off x="731520" y="1645920"/>
            <a:ext cx="2011680" cy="228600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755648"/>
            <a:ext cx="1792224" cy="2066544"/>
          </a:xfrm>
          <a:prstGeom prst="rect">
            <a:avLst/>
          </a:prstGeom>
          <a:noFill/>
        </p:spPr>
        <p:txBody>
          <a:bodyPr wrap="square">
            <a:spAutoFit/>
          </a:bodyPr>
          <a:lstStyle/>
          <a:p>
            <a:pPr>
              <a:defRPr b="1" sz="1100">
                <a:solidFill>
                  <a:srgbClr val="52DCA4"/>
                </a:solidFill>
              </a:defRPr>
            </a:pPr>
            <a:r>
              <a:t>Phase 1</a:t>
            </a:r>
            <a:br/>
            <a:r>
              <a:t>Core Coordination</a:t>
            </a:r>
          </a:p>
          <a:p>
            <a:pPr>
              <a:spcBef>
                <a:spcPts val="600"/>
              </a:spcBef>
              <a:defRPr sz="900">
                <a:solidFill>
                  <a:srgbClr val="F4F8FF"/>
                </a:solidFill>
              </a:defRPr>
            </a:pPr>
            <a:r>
              <a:t>Auth, RBAC, request lifecycle state machine, &amp; audit logs.</a:t>
            </a:r>
            <a:br/>
            <a:r>
              <a:t>[BASELINE READY]</a:t>
            </a:r>
          </a:p>
        </p:txBody>
      </p:sp>
      <p:sp>
        <p:nvSpPr>
          <p:cNvPr id="7" name="Rounded Rectangle 6"/>
          <p:cNvSpPr/>
          <p:nvPr/>
        </p:nvSpPr>
        <p:spPr>
          <a:xfrm>
            <a:off x="2926080" y="1645920"/>
            <a:ext cx="2011680" cy="2286000"/>
          </a:xfrm>
          <a:prstGeom prst="roundRect">
            <a:avLst/>
          </a:prstGeom>
          <a:solidFill>
            <a:srgbClr val="111D33"/>
          </a:solidFill>
          <a:ln w="12700">
            <a:solidFill>
              <a:srgbClr val="52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35808" y="1755648"/>
            <a:ext cx="1792224" cy="2066544"/>
          </a:xfrm>
          <a:prstGeom prst="rect">
            <a:avLst/>
          </a:prstGeom>
          <a:noFill/>
        </p:spPr>
        <p:txBody>
          <a:bodyPr wrap="square">
            <a:spAutoFit/>
          </a:bodyPr>
          <a:lstStyle/>
          <a:p>
            <a:pPr>
              <a:defRPr b="1" sz="1100">
                <a:solidFill>
                  <a:srgbClr val="52DCA4"/>
                </a:solidFill>
              </a:defRPr>
            </a:pPr>
            <a:r>
              <a:t>Phase 2</a:t>
            </a:r>
            <a:br/>
            <a:r>
              <a:t>Resource Flow</a:t>
            </a:r>
          </a:p>
          <a:p>
            <a:pPr>
              <a:spcBef>
                <a:spcPts val="600"/>
              </a:spcBef>
              <a:defRPr sz="900">
                <a:solidFill>
                  <a:srgbClr val="F4F8FF"/>
                </a:solidFill>
              </a:defRPr>
            </a:pPr>
            <a:r>
              <a:t>Voluntary offers, atomic row locks, &amp; verified fulfilment.</a:t>
            </a:r>
            <a:br/>
            <a:r>
              <a:t>[BASELINE READY]</a:t>
            </a:r>
          </a:p>
        </p:txBody>
      </p:sp>
      <p:sp>
        <p:nvSpPr>
          <p:cNvPr id="9" name="Rounded Rectangle 8"/>
          <p:cNvSpPr/>
          <p:nvPr/>
        </p:nvSpPr>
        <p:spPr>
          <a:xfrm>
            <a:off x="5120640" y="1645920"/>
            <a:ext cx="2011680" cy="228600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30368" y="1755648"/>
            <a:ext cx="1792224" cy="2066544"/>
          </a:xfrm>
          <a:prstGeom prst="rect">
            <a:avLst/>
          </a:prstGeom>
          <a:noFill/>
        </p:spPr>
        <p:txBody>
          <a:bodyPr wrap="square">
            <a:spAutoFit/>
          </a:bodyPr>
          <a:lstStyle/>
          <a:p>
            <a:pPr>
              <a:defRPr b="1" sz="1100">
                <a:solidFill>
                  <a:srgbClr val="2BDCE0"/>
                </a:solidFill>
              </a:defRPr>
            </a:pPr>
            <a:r>
              <a:t>Phase 3</a:t>
            </a:r>
            <a:br/>
            <a:r>
              <a:t>Offline Resilience</a:t>
            </a:r>
          </a:p>
          <a:p>
            <a:pPr>
              <a:spcBef>
                <a:spcPts val="600"/>
              </a:spcBef>
              <a:defRPr sz="900">
                <a:solidFill>
                  <a:srgbClr val="F4F8FF"/>
                </a:solidFill>
              </a:defRPr>
            </a:pPr>
            <a:r>
              <a:t>Service Worker cache, IndexedDB outbox, &amp; sync engine.</a:t>
            </a:r>
            <a:br/>
            <a:r>
              <a:t>[BASELINE READY]</a:t>
            </a:r>
          </a:p>
        </p:txBody>
      </p:sp>
      <p:sp>
        <p:nvSpPr>
          <p:cNvPr id="11" name="Rounded Rectangle 10"/>
          <p:cNvSpPr/>
          <p:nvPr/>
        </p:nvSpPr>
        <p:spPr>
          <a:xfrm>
            <a:off x="7315199" y="1645920"/>
            <a:ext cx="2011680" cy="2286000"/>
          </a:xfrm>
          <a:prstGeom prst="roundRect">
            <a:avLst/>
          </a:prstGeom>
          <a:solidFill>
            <a:srgbClr val="111D33"/>
          </a:solidFill>
          <a:ln w="12700">
            <a:solidFill>
              <a:srgbClr val="4C9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4927" y="1755648"/>
            <a:ext cx="1792224" cy="2066544"/>
          </a:xfrm>
          <a:prstGeom prst="rect">
            <a:avLst/>
          </a:prstGeom>
          <a:noFill/>
        </p:spPr>
        <p:txBody>
          <a:bodyPr wrap="square">
            <a:spAutoFit/>
          </a:bodyPr>
          <a:lstStyle/>
          <a:p>
            <a:pPr>
              <a:defRPr b="1" sz="1100">
                <a:solidFill>
                  <a:srgbClr val="4C91FF"/>
                </a:solidFill>
              </a:defRPr>
            </a:pPr>
            <a:r>
              <a:t>Phase 4</a:t>
            </a:r>
            <a:br/>
            <a:r>
              <a:t>Hardening &amp; QA</a:t>
            </a:r>
          </a:p>
          <a:p>
            <a:pPr>
              <a:spcBef>
                <a:spcPts val="600"/>
              </a:spcBef>
              <a:defRPr sz="900">
                <a:solidFill>
                  <a:srgbClr val="F4F8FF"/>
                </a:solidFill>
              </a:defRPr>
            </a:pPr>
            <a:r>
              <a:t>Chaos testing, concurrency race stress tests, &amp; mock drills.</a:t>
            </a:r>
            <a:br/>
            <a:r>
              <a:t>[PLANNED Q1]</a:t>
            </a:r>
          </a:p>
        </p:txBody>
      </p:sp>
      <p:sp>
        <p:nvSpPr>
          <p:cNvPr id="13" name="Rounded Rectangle 12"/>
          <p:cNvSpPr/>
          <p:nvPr/>
        </p:nvSpPr>
        <p:spPr>
          <a:xfrm>
            <a:off x="9509760" y="1645920"/>
            <a:ext cx="2011680" cy="2286000"/>
          </a:xfrm>
          <a:prstGeom prst="roundRect">
            <a:avLst/>
          </a:prstGeom>
          <a:solidFill>
            <a:srgbClr val="111D33"/>
          </a:solidFill>
          <a:ln w="12700">
            <a:solidFill>
              <a:srgbClr val="FFA4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19488" y="1755648"/>
            <a:ext cx="1792224" cy="2066544"/>
          </a:xfrm>
          <a:prstGeom prst="rect">
            <a:avLst/>
          </a:prstGeom>
          <a:noFill/>
        </p:spPr>
        <p:txBody>
          <a:bodyPr wrap="square">
            <a:spAutoFit/>
          </a:bodyPr>
          <a:lstStyle/>
          <a:p>
            <a:pPr>
              <a:defRPr b="1" sz="1100">
                <a:solidFill>
                  <a:srgbClr val="FFA44C"/>
                </a:solidFill>
              </a:defRPr>
            </a:pPr>
            <a:r>
              <a:t>Phase 5</a:t>
            </a:r>
            <a:br/>
            <a:r>
              <a:t>Assistive AI</a:t>
            </a:r>
          </a:p>
          <a:p>
            <a:pPr>
              <a:spcBef>
                <a:spcPts val="600"/>
              </a:spcBef>
              <a:defRPr sz="900">
                <a:solidFill>
                  <a:srgbClr val="F4F8FF"/>
                </a:solidFill>
              </a:defRPr>
            </a:pPr>
            <a:r>
              <a:t>Speech-to-text intake, request summaries, &amp; triage advice.</a:t>
            </a:r>
            <a:br/>
            <a:r>
              <a:t>[FUTURE SCOPE]</a:t>
            </a:r>
          </a:p>
        </p:txBody>
      </p:sp>
      <p:sp>
        <p:nvSpPr>
          <p:cNvPr id="15" name="Rounded Rectangle 14"/>
          <p:cNvSpPr/>
          <p:nvPr/>
        </p:nvSpPr>
        <p:spPr>
          <a:xfrm>
            <a:off x="731520" y="4160520"/>
            <a:ext cx="10728655" cy="1965960"/>
          </a:xfrm>
          <a:prstGeom prst="roundRect">
            <a:avLst/>
          </a:prstGeom>
          <a:solidFill>
            <a:srgbClr val="111D33"/>
          </a:solidFill>
          <a:ln w="12700">
            <a:solidFill>
              <a:srgbClr val="2B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51960"/>
            <a:ext cx="10362895" cy="1783080"/>
          </a:xfrm>
          <a:prstGeom prst="rect">
            <a:avLst/>
          </a:prstGeom>
          <a:noFill/>
        </p:spPr>
        <p:txBody>
          <a:bodyPr wrap="square">
            <a:spAutoFit/>
          </a:bodyPr>
          <a:lstStyle/>
          <a:p>
            <a:pPr algn="ctr">
              <a:defRPr b="1" i="1" sz="1600">
                <a:solidFill>
                  <a:srgbClr val="F4F8FF"/>
                </a:solidFill>
              </a:defRPr>
            </a:pPr>
            <a:r>
              <a:t>"EDITH turns fragmented emergency requests into accountable, traceable coordination — designed for the moments connectivity cannot be taken for granted."</a:t>
            </a:r>
          </a:p>
          <a:p>
            <a:pPr algn="ctr">
              <a:spcBef>
                <a:spcPts val="1200"/>
              </a:spcBef>
              <a:defRPr b="1" sz="1200">
                <a:solidFill>
                  <a:srgbClr val="2BDCE0"/>
                </a:solidFill>
              </a:defRPr>
            </a:pPr>
            <a:r>
              <a:t>TEAM JARVIS · RATHINAM TECHNICAL CAMPUS</a:t>
            </a:r>
          </a:p>
          <a:p>
            <a:pPr algn="ctr">
              <a:spcBef>
                <a:spcPts val="400"/>
              </a:spcBef>
              <a:defRPr sz="1100">
                <a:solidFill>
                  <a:srgbClr val="A3B4CC"/>
                </a:solidFill>
              </a:defRPr>
            </a:pPr>
            <a:r>
              <a:t>Purusouthanan B (Lead) · Sakthivel R · Sanjo Thomas · Sheik Arsh S</a:t>
            </a:r>
          </a:p>
        </p:txBody>
      </p:sp>
      <p:sp>
        <p:nvSpPr>
          <p:cNvPr id="17" name="TextBox 16"/>
          <p:cNvSpPr txBox="1"/>
          <p:nvPr/>
        </p:nvSpPr>
        <p:spPr>
          <a:xfrm>
            <a:off x="731520" y="6355080"/>
            <a:ext cx="10728655" cy="320040"/>
          </a:xfrm>
          <a:prstGeom prst="rect">
            <a:avLst/>
          </a:prstGeom>
          <a:noFill/>
        </p:spPr>
        <p:txBody>
          <a:bodyPr wrap="square" lIns="0">
            <a:spAutoFit/>
          </a:bodyPr>
          <a:lstStyle/>
          <a:p>
            <a:pPr>
              <a:defRPr sz="850">
                <a:solidFill>
                  <a:srgbClr val="72849E"/>
                </a:solidFill>
                <a:latin typeface="Arial"/>
              </a:defRPr>
            </a:pPr>
            <a:r>
              <a:t>EDITH · EMERGENCY DISPATCH &amp; INTELLIGENCE TRACKING HUB   |   TEAM JARVIS · RATHINAM TECHNICAL CAMPUS   |   SECTION F: ROADMAP &amp; CLOSING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